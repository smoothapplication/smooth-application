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027"/>
                </a:solidFill>
                <a:latin typeface="Calibri"/>
              </a:defRPr>
            </a:pPr>
            <a:r>
              <a:rPr sz="1300" b="0" i="0" u="none" strike="noStrike">
                <a:solidFill>
                  <a:srgbClr val="0B2027"/>
                </a:solidFill>
                <a:latin typeface="Calibri"/>
              </a:rPr>
              <a:t>2024 visa refusal rates — Nigerian applicants</a:t>
            </a:r>
          </a:p>
        </c:rich>
      </c:tx>
      <c:layout/>
      <c:overlay val="0"/>
    </c:title>
    <c:autoTitleDeleted val="0"/>
    <c:plotArea>
      <c:layout/>
      <c:barChart>
        <c:barDir val="col"/>
        <c:grouping val="clustered"/>
        <c:varyColors val="0"/>
        <c:ser>
          <c:idx val="0"/>
          <c:order val="0"/>
          <c:tx>
            <c:strRef>
              <c:f>Sheet1!$B$1</c:f>
              <c:strCache>
                <c:ptCount val="1"/>
                <c:pt idx="0">
                  <c:v>Refusal rate</c:v>
                </c:pt>
              </c:strCache>
            </c:strRef>
          </c:tx>
          <c:spPr>
            <a:solidFill>
              <a:srgbClr val="028090"/>
            </a:solidFill>
            <a:effectLst/>
          </c:spPr>
          <c:invertIfNegative val="0"/>
          <c:dLbls>
            <c:numFmt formatCode="0.0&quot;%&quot;" sourceLinked="0"/>
            <c:txPr>
              <a:bodyPr/>
              <a:lstStyle/>
              <a:p>
                <a:pPr>
                  <a:defRPr b="0" i="0" strike="noStrike" sz="1200" u="none">
                    <a:solidFill>
                      <a:srgbClr val="0B2027"/>
                    </a:solidFill>
                    <a:latin typeface="Arial"/>
                  </a:defRPr>
                </a:pPr>
              </a:p>
            </c:txPr>
            <c:showLegendKey val="0"/>
            <c:showVal val="1"/>
            <c:showCatName val="0"/>
            <c:showSerName val="0"/>
            <c:showPercent val="0"/>
            <c:showBubbleSize val="0"/>
            <c:showLeaderLines val="0"/>
          </c:dLbls>
          <c:cat>
            <c:multiLvlStrRef>
              <c:f>Sheet1!$A$2:$A$4</c:f>
              <c:multiLvlStrCache>
                <c:ptCount val="3"/>
                <c:lvl>
                  <c:pt idx="0">
                    <c:v>Schengen</c:v>
                  </c:pt>
                  <c:pt idx="1">
                    <c:v>Canada (visitor)</c:v>
                  </c:pt>
                  <c:pt idx="2">
                    <c:v>UK (visitor)</c:v>
                  </c:pt>
                </c:lvl>
              </c:multiLvlStrCache>
            </c:multiLvlStrRef>
          </c:cat>
          <c:val>
            <c:numRef>
              <c:f>Sheet1!$B$2:$B$4</c:f>
              <c:numCache>
                <c:formatCode>General</c:formatCode>
                <c:ptCount val="3"/>
                <c:pt idx="0">
                  <c:v>45.9</c:v>
                </c:pt>
                <c:pt idx="1">
                  <c:v>35</c:v>
                </c:pt>
                <c:pt idx="2">
                  <c:v>33.5</c:v>
                </c:pt>
              </c:numCache>
            </c:numRef>
          </c:val>
        </c:ser>
        <c:dLbls>
          <c:numFmt formatCode="0.0&quot;%&quot;" sourceLinked="0"/>
          <c:txPr>
            <a:bodyPr/>
            <a:lstStyle/>
            <a:p>
              <a:pPr>
                <a:defRPr b="0" i="0" strike="noStrike" sz="1200" u="none">
                  <a:solidFill>
                    <a:srgbClr val="0B2027"/>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7403F"/>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8A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2027"/>
                </a:solidFill>
                <a:latin typeface="Calibri"/>
              </a:defRPr>
            </a:pPr>
            <a:r>
              <a:rPr sz="1100" b="0" i="0" u="none" strike="noStrike">
                <a:solidFill>
                  <a:srgbClr val="0B2027"/>
                </a:solidFill>
                <a:latin typeface="Calibri"/>
              </a:rPr>
              <a:t>Total revenue by quarter ($)</a:t>
            </a:r>
          </a:p>
        </c:rich>
      </c:tx>
      <c:layout/>
      <c:overlay val="0"/>
    </c:title>
    <c:autoTitleDeleted val="0"/>
    <c:plotArea>
      <c:layout/>
      <c:barChart>
        <c:barDir val="col"/>
        <c:grouping val="clustered"/>
        <c:varyColors val="0"/>
        <c:ser>
          <c:idx val="0"/>
          <c:order val="0"/>
          <c:tx>
            <c:strRef>
              <c:f>Sheet1!$B$1</c:f>
              <c:strCache>
                <c:ptCount val="1"/>
                <c:pt idx="0">
                  <c:v>Total quarterly revenue</c:v>
                </c:pt>
              </c:strCache>
            </c:strRef>
          </c:tx>
          <c:spPr>
            <a:solidFill>
              <a:srgbClr val="02C39A"/>
            </a:solidFill>
            <a:effectLst/>
          </c:spPr>
          <c:invertIfNegative val="0"/>
          <c:dLbls>
            <c:numFmt formatCode="&quot;$&quot;#,##0" sourceLinked="0"/>
            <c:txPr>
              <a:bodyPr/>
              <a:lstStyle/>
              <a:p>
                <a:pPr>
                  <a:defRPr b="0" i="0" strike="noStrike" sz="950" u="none">
                    <a:solidFill>
                      <a:srgbClr val="0B2027"/>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0</c:v>
                </c:pt>
                <c:pt idx="1">
                  <c:v>480</c:v>
                </c:pt>
                <c:pt idx="2">
                  <c:v>1980</c:v>
                </c:pt>
                <c:pt idx="3">
                  <c:v>4320</c:v>
                </c:pt>
              </c:numCache>
            </c:numRef>
          </c:val>
        </c:ser>
        <c:dLbls>
          <c:numFmt formatCode="&quot;$&quot;#,##0" sourceLinked="0"/>
          <c:txPr>
            <a:bodyPr/>
            <a:lstStyle/>
            <a:p>
              <a:pPr>
                <a:defRPr b="0" i="0" strike="noStrike" sz="950" u="none">
                  <a:solidFill>
                    <a:srgbClr val="0B202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7403F"/>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mission in one breath: we turn visa refusals into approvals for Nigerian travelers, for free, without ever seeing their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 33.5%, Schengen 45.9%, Canada ~30-40% refusal rates for Nigerian applicants in 2024 — among the highest in the world. This is not a small, niche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not a one-time transaction market. Every refusal creates a re-applicant, so real volume is larger than first-time application counts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already ships in the live product — this is not a mockup, it's what exists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flow lives client-side — the privacy promise is architectural, not a policy on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 slow down here. This is a working product with a real feedback loop, not a deck of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B2B as the durable, recurring story. The free tool stays free — monetization sits one layer downstream of the applicant, never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research already done: informal Lagos travel agents are the wrong B2B target — NANTA membership and official licensing registers are the real, contractable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stated choice: we turned down a bigger, riskier feature because it crossed into unlicensed immigration advice. That discipline is the moat, not a limitation. If asked about competition: closest adjacent tool is VisaOS — general-purpose, not Nigeria-specific,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will find these three anyway — better we name them first, with the mitigation already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track record: this is the fourth product this pair has built and shipped together, not a first-time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$40K covers 12 months across five priorities, biggest first: a first hire to remove key-person risk, then legal review, partnerships, product/infra, and a paid-acquisition test. Add your own living-cost number to the total before finalizing.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is deliberately conservative, not a hockey stick — $6,780 total year-one revenue against a $40K raise. The ask is never framed as break-even; it's framed as proof that the pricing and referral mechanics work before a seed round scales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line, then go straight to questions — the deck has already made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028090">
              <a:alpha val="22000"/>
            </a:srgbClr>
          </a:solidFill>
          <a:ln/>
        </p:spPr>
      </p:sp>
      <p:sp>
        <p:nvSpPr>
          <p:cNvPr id="3" name="Shape 1"/>
          <p:cNvSpPr/>
          <p:nvPr/>
        </p:nvSpPr>
        <p:spPr>
          <a:xfrm>
            <a:off x="-1463040" y="4206240"/>
            <a:ext cx="3840480" cy="3840480"/>
          </a:xfrm>
          <a:prstGeom prst="ellipse">
            <a:avLst/>
          </a:prstGeom>
          <a:solidFill>
            <a:srgbClr val="02C39A">
              <a:alpha val="18000"/>
            </a:srgbClr>
          </a:solidFill>
          <a:ln/>
        </p:spPr>
      </p:sp>
      <p:sp>
        <p:nvSpPr>
          <p:cNvPr id="4" name="Shape 2"/>
          <p:cNvSpPr/>
          <p:nvPr/>
        </p:nvSpPr>
        <p:spPr>
          <a:xfrm>
            <a:off x="640080" y="685800"/>
            <a:ext cx="658368" cy="658368"/>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725668" y="771388"/>
            <a:ext cx="487192" cy="487192"/>
          </a:xfrm>
          <a:prstGeom prst="rect">
            <a:avLst/>
          </a:prstGeom>
        </p:spPr>
      </p:pic>
      <p:sp>
        <p:nvSpPr>
          <p:cNvPr id="6" name="Text 3"/>
          <p:cNvSpPr txBox="1"/>
          <p:nvPr/>
        </p:nvSpPr>
        <p:spPr>
          <a:xfrm>
            <a:off x="548640" y="2331720"/>
            <a:ext cx="73152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FREE  ·  PRIVATE  ·  BROWSER-ONLY</a:t>
            </a:r>
            <a:endParaRPr lang="en-US" sz="1300" dirty="0"/>
          </a:p>
        </p:txBody>
      </p:sp>
      <p:sp>
        <p:nvSpPr>
          <p:cNvPr id="7" name="Text 4"/>
          <p:cNvSpPr txBox="1"/>
          <p:nvPr/>
        </p:nvSpPr>
        <p:spPr>
          <a:xfrm>
            <a:off x="502920" y="2651760"/>
            <a:ext cx="960120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Smooth Application</a:t>
            </a:r>
            <a:endParaRPr lang="en-US" sz="5400" dirty="0"/>
          </a:p>
        </p:txBody>
      </p:sp>
      <p:sp>
        <p:nvSpPr>
          <p:cNvPr id="8" name="Text 5"/>
          <p:cNvSpPr txBox="1"/>
          <p:nvPr/>
        </p:nvSpPr>
        <p:spPr>
          <a:xfrm>
            <a:off x="548640" y="3886200"/>
            <a:ext cx="932688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Turning visa refusals into approvals for Nigeria's outbound travelers.</a:t>
            </a:r>
            <a:endParaRPr lang="en-US" sz="1800" dirty="0"/>
          </a:p>
        </p:txBody>
      </p:sp>
      <p:sp>
        <p:nvSpPr>
          <p:cNvPr id="9" name="Text 6"/>
          <p:cNvSpPr txBox="1"/>
          <p:nvPr/>
        </p:nvSpPr>
        <p:spPr>
          <a:xfrm>
            <a:off x="548640" y="4434840"/>
            <a:ext cx="9326880" cy="365760"/>
          </a:xfrm>
          <a:prstGeom prst="rect">
            <a:avLst/>
          </a:prstGeom>
          <a:noFill/>
          <a:ln/>
        </p:spPr>
        <p:txBody>
          <a:bodyPr wrap="square" lIns="0" tIns="0" rIns="0" bIns="0" rtlCol="0" anchor="ctr"/>
          <a:lstStyle/>
          <a:p>
            <a:pPr indent="0" marL="0">
              <a:buNone/>
            </a:pPr>
            <a:r>
              <a:rPr lang="en-US" sz="1300" spc="100" kern="0" dirty="0">
                <a:solidFill>
                  <a:srgbClr val="00A896"/>
                </a:solidFill>
                <a:latin typeface="Calibri" pitchFamily="34" charset="0"/>
                <a:ea typeface="Calibri" pitchFamily="34" charset="-122"/>
                <a:cs typeface="Calibri" pitchFamily="34" charset="-120"/>
              </a:rPr>
              <a:t>United Kingdom   ·   Canada   ·   Schengen Area   ·   South Africa</a:t>
            </a:r>
            <a:endParaRPr lang="en-US" sz="1300" dirty="0"/>
          </a:p>
        </p:txBody>
      </p:sp>
      <p:sp>
        <p:nvSpPr>
          <p:cNvPr id="10" name="Text 7"/>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Seyi Afeni, Founder  ·  Sope Tubi, CTO</a:t>
            </a:r>
            <a:endParaRPr lang="en-US" sz="1300" dirty="0"/>
          </a:p>
        </p:txBody>
      </p:sp>
      <p:sp>
        <p:nvSpPr>
          <p:cNvPr id="11" name="Text 8"/>
          <p:cNvSpPr txBox="1"/>
          <p:nvPr/>
        </p:nvSpPr>
        <p:spPr>
          <a:xfrm>
            <a:off x="548640" y="6291072"/>
            <a:ext cx="5486400" cy="274320"/>
          </a:xfrm>
          <a:prstGeom prst="rect">
            <a:avLst/>
          </a:prstGeom>
          <a:noFill/>
          <a:ln/>
        </p:spPr>
        <p:txBody>
          <a:bodyPr wrap="square" lIns="0" tIns="0" rIns="0" bIns="0" rtlCol="0" anchor="ctr"/>
          <a:lstStyle/>
          <a:p>
            <a:pPr indent="0" marL="0">
              <a:buNone/>
            </a:pPr>
            <a:r>
              <a:rPr lang="en-US" sz="1100" dirty="0">
                <a:solidFill>
                  <a:srgbClr val="6B8A87"/>
                </a:solidFill>
                <a:latin typeface="Calibri" pitchFamily="34" charset="0"/>
                <a:ea typeface="Calibri" pitchFamily="34" charset="-122"/>
                <a:cs typeface="Calibri" pitchFamily="34" charset="-120"/>
              </a:rPr>
              <a:t>smoothapplication.github.io/smooth-application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Getting a visa shouldn't feel like a lottery</a:t>
            </a:r>
            <a:endParaRPr lang="en-US" sz="3200" dirty="0"/>
          </a:p>
        </p:txBody>
      </p:sp>
      <p:sp>
        <p:nvSpPr>
          <p:cNvPr id="4" name="Text 2"/>
          <p:cNvSpPr txBox="1"/>
          <p:nvPr/>
        </p:nvSpPr>
        <p:spPr>
          <a:xfrm>
            <a:off x="548640" y="1572768"/>
            <a:ext cx="5577840" cy="2194560"/>
          </a:xfrm>
          <a:prstGeom prst="rect">
            <a:avLst/>
          </a:prstGeom>
          <a:noFill/>
          <a:ln/>
        </p:spPr>
        <p:txBody>
          <a:bodyPr wrap="square" lIns="0" tIns="0" rIns="0" bIns="0" rtlCol="0" anchor="ctr"/>
          <a:lstStyle/>
          <a:p>
            <a:pPr indent="0" marL="0">
              <a:lnSpc>
                <a:spcPct val="125000"/>
              </a:lnSpc>
              <a:buNone/>
            </a:pPr>
            <a:r>
              <a:rPr lang="en-US" sz="1500" dirty="0">
                <a:solidFill>
                  <a:srgbClr val="27403F"/>
                </a:solidFill>
                <a:latin typeface="Calibri" pitchFamily="34" charset="0"/>
                <a:ea typeface="Calibri" pitchFamily="34" charset="-122"/>
                <a:cs typeface="Calibri" pitchFamily="34" charset="-120"/>
              </a:rPr>
              <a:t>Most refusals aren't about being unqualified — they're about the application failing to clearly show it. With no free, reliable source of guidance, applicants either pay unlicensed “agents” of unknown quality, or go it alone and pay the price when it comes back refused.</a:t>
            </a:r>
            <a:endParaRPr lang="en-US" sz="1500" dirty="0"/>
          </a:p>
        </p:txBody>
      </p:sp>
      <p:sp>
        <p:nvSpPr>
          <p:cNvPr id="5" name="Shape 3"/>
          <p:cNvSpPr/>
          <p:nvPr/>
        </p:nvSpPr>
        <p:spPr>
          <a:xfrm>
            <a:off x="548640" y="3977640"/>
            <a:ext cx="548640" cy="54864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19963" y="4048963"/>
            <a:ext cx="405994" cy="405994"/>
          </a:xfrm>
          <a:prstGeom prst="rect">
            <a:avLst/>
          </a:prstGeom>
        </p:spPr>
      </p:pic>
      <p:sp>
        <p:nvSpPr>
          <p:cNvPr id="7" name="Text 4"/>
          <p:cNvSpPr txBox="1"/>
          <p:nvPr/>
        </p:nvSpPr>
        <p:spPr>
          <a:xfrm>
            <a:off x="1280160" y="3977640"/>
            <a:ext cx="4937760" cy="822960"/>
          </a:xfrm>
          <a:prstGeom prst="rect">
            <a:avLst/>
          </a:prstGeom>
          <a:noFill/>
          <a:ln/>
        </p:spPr>
        <p:txBody>
          <a:bodyPr wrap="square" lIns="0" tIns="0" rIns="0" bIns="0" rtlCol="0" anchor="ctr"/>
          <a:lstStyle/>
          <a:p>
            <a:pPr indent="0" marL="0">
              <a:buNone/>
            </a:pPr>
            <a:r>
              <a:rPr lang="en-US" sz="1300" i="1" dirty="0">
                <a:solidFill>
                  <a:srgbClr val="6B8A87"/>
                </a:solidFill>
                <a:latin typeface="Calibri" pitchFamily="34" charset="0"/>
                <a:ea typeface="Calibri" pitchFamily="34" charset="-122"/>
                <a:cs typeface="Calibri" pitchFamily="34" charset="-120"/>
              </a:rPr>
              <a:t>A refusal isn't the end — it's a repeat customer. Most reapply, and need it right the next time.</a:t>
            </a:r>
            <a:endParaRPr lang="en-US" sz="1300" dirty="0"/>
          </a:p>
        </p:txBody>
      </p:sp>
      <p:graphicFrame>
        <p:nvGraphicFramePr>
          <p:cNvPr id="8" name="Chart 0" descr=""/>
          <p:cNvGraphicFramePr/>
          <p:nvPr/>
        </p:nvGraphicFramePr>
        <p:xfrm>
          <a:off x="6492240" y="1600200"/>
          <a:ext cx="5120640" cy="42062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492240" y="5897880"/>
            <a:ext cx="5120640" cy="457200"/>
          </a:xfrm>
          <a:prstGeom prst="rect">
            <a:avLst/>
          </a:prstGeom>
          <a:noFill/>
          <a:ln/>
        </p:spPr>
        <p:txBody>
          <a:bodyPr wrap="square" lIns="0" tIns="0" rIns="0" bIns="0" rtlCol="0" anchor="ctr"/>
          <a:lstStyle/>
          <a:p>
            <a:pPr indent="0" marL="0">
              <a:buNone/>
            </a:pPr>
            <a:r>
              <a:rPr lang="en-US" sz="850" dirty="0">
                <a:solidFill>
                  <a:srgbClr val="6B8A87"/>
                </a:solidFill>
                <a:latin typeface="Calibri" pitchFamily="34" charset="0"/>
                <a:ea typeface="Calibri" pitchFamily="34" charset="-122"/>
                <a:cs typeface="Calibri" pitchFamily="34" charset="-120"/>
              </a:rPr>
              <a:t>Sources: Businessday NG / Leadership NG (UK, 2024); Nairametrics (Schengen, 2024); IRCC-derived country analyses (Canada visitor visa).</a:t>
            </a:r>
            <a:endParaRPr lang="en-US" sz="850" dirty="0"/>
          </a:p>
        </p:txBody>
      </p:sp>
      <p:sp>
        <p:nvSpPr>
          <p:cNvPr id="10" name="Text 6"/>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11" name="Text 7"/>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MARKET SIZE</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A large, recurring, high-stakes market</a:t>
            </a:r>
            <a:endParaRPr lang="en-US" sz="3200" dirty="0"/>
          </a:p>
        </p:txBody>
      </p:sp>
      <p:sp>
        <p:nvSpPr>
          <p:cNvPr id="4" name="Shape 2"/>
          <p:cNvSpPr/>
          <p:nvPr/>
        </p:nvSpPr>
        <p:spPr>
          <a:xfrm>
            <a:off x="548640" y="1691640"/>
            <a:ext cx="3520440" cy="2788920"/>
          </a:xfrm>
          <a:prstGeom prst="roundRect">
            <a:avLst>
              <a:gd name="adj" fmla="val 2623"/>
            </a:avLst>
          </a:prstGeom>
          <a:solidFill>
            <a:srgbClr val="EAF6F5"/>
          </a:solidFill>
          <a:ln/>
        </p:spPr>
      </p:sp>
      <p:sp>
        <p:nvSpPr>
          <p:cNvPr id="5" name="Shape 3"/>
          <p:cNvSpPr/>
          <p:nvPr/>
        </p:nvSpPr>
        <p:spPr>
          <a:xfrm>
            <a:off x="822960" y="1965960"/>
            <a:ext cx="548640" cy="54864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822960" y="2697480"/>
            <a:ext cx="2971800" cy="640080"/>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4.09M</a:t>
            </a:r>
            <a:endParaRPr lang="en-US" sz="3400" dirty="0"/>
          </a:p>
        </p:txBody>
      </p:sp>
      <p:sp>
        <p:nvSpPr>
          <p:cNvPr id="8" name="Text 5"/>
          <p:cNvSpPr txBox="1"/>
          <p:nvPr/>
        </p:nvSpPr>
        <p:spPr>
          <a:xfrm>
            <a:off x="822960" y="333756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27403F"/>
                </a:solidFill>
                <a:latin typeface="Calibri" pitchFamily="34" charset="0"/>
                <a:ea typeface="Calibri" pitchFamily="34" charset="-122"/>
                <a:cs typeface="Calibri" pitchFamily="34" charset="-120"/>
              </a:rPr>
              <a:t>Nigerian visa applications to the UK alone, 2005 – Q1 2026 (1.34M refused)</a:t>
            </a:r>
            <a:endParaRPr lang="en-US" sz="1200" dirty="0"/>
          </a:p>
        </p:txBody>
      </p:sp>
      <p:sp>
        <p:nvSpPr>
          <p:cNvPr id="9" name="Shape 6"/>
          <p:cNvSpPr/>
          <p:nvPr/>
        </p:nvSpPr>
        <p:spPr>
          <a:xfrm>
            <a:off x="4389120" y="1691640"/>
            <a:ext cx="3520440" cy="2788920"/>
          </a:xfrm>
          <a:prstGeom prst="roundRect">
            <a:avLst>
              <a:gd name="adj" fmla="val 2623"/>
            </a:avLst>
          </a:prstGeom>
          <a:solidFill>
            <a:srgbClr val="EAF6F5"/>
          </a:solidFill>
          <a:ln/>
        </p:spPr>
      </p:sp>
      <p:sp>
        <p:nvSpPr>
          <p:cNvPr id="10" name="Shape 7"/>
          <p:cNvSpPr/>
          <p:nvPr/>
        </p:nvSpPr>
        <p:spPr>
          <a:xfrm>
            <a:off x="4663440" y="1965960"/>
            <a:ext cx="548640" cy="548640"/>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4734763" y="2037283"/>
            <a:ext cx="405994" cy="405994"/>
          </a:xfrm>
          <a:prstGeom prst="rect">
            <a:avLst/>
          </a:prstGeom>
        </p:spPr>
      </p:pic>
      <p:sp>
        <p:nvSpPr>
          <p:cNvPr id="12" name="Text 8"/>
          <p:cNvSpPr txBox="1"/>
          <p:nvPr/>
        </p:nvSpPr>
        <p:spPr>
          <a:xfrm>
            <a:off x="4663440" y="2697480"/>
            <a:ext cx="2971800" cy="640080"/>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111,000</a:t>
            </a:r>
            <a:endParaRPr lang="en-US" sz="3400" dirty="0"/>
          </a:p>
        </p:txBody>
      </p:sp>
      <p:sp>
        <p:nvSpPr>
          <p:cNvPr id="13" name="Text 9"/>
          <p:cNvSpPr txBox="1"/>
          <p:nvPr/>
        </p:nvSpPr>
        <p:spPr>
          <a:xfrm>
            <a:off x="4663440" y="333756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27403F"/>
                </a:solidFill>
                <a:latin typeface="Calibri" pitchFamily="34" charset="0"/>
                <a:ea typeface="Calibri" pitchFamily="34" charset="-122"/>
                <a:cs typeface="Calibri" pitchFamily="34" charset="-120"/>
              </a:rPr>
              <a:t>Schengen applications from Nigeria in 2024 — the highest year on record</a:t>
            </a:r>
            <a:endParaRPr lang="en-US" sz="1200" dirty="0"/>
          </a:p>
        </p:txBody>
      </p:sp>
      <p:sp>
        <p:nvSpPr>
          <p:cNvPr id="14" name="Shape 10"/>
          <p:cNvSpPr/>
          <p:nvPr/>
        </p:nvSpPr>
        <p:spPr>
          <a:xfrm>
            <a:off x="8229600" y="1691640"/>
            <a:ext cx="3520440" cy="2788920"/>
          </a:xfrm>
          <a:prstGeom prst="roundRect">
            <a:avLst>
              <a:gd name="adj" fmla="val 2623"/>
            </a:avLst>
          </a:prstGeom>
          <a:solidFill>
            <a:srgbClr val="EAF6F5"/>
          </a:solidFill>
          <a:ln/>
        </p:spPr>
      </p:sp>
      <p:sp>
        <p:nvSpPr>
          <p:cNvPr id="15" name="Shape 11"/>
          <p:cNvSpPr/>
          <p:nvPr/>
        </p:nvSpPr>
        <p:spPr>
          <a:xfrm>
            <a:off x="8503920" y="1965960"/>
            <a:ext cx="548640" cy="548640"/>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8575243" y="2037283"/>
            <a:ext cx="405994" cy="405994"/>
          </a:xfrm>
          <a:prstGeom prst="rect">
            <a:avLst/>
          </a:prstGeom>
        </p:spPr>
      </p:pic>
      <p:sp>
        <p:nvSpPr>
          <p:cNvPr id="17" name="Text 12"/>
          <p:cNvSpPr txBox="1"/>
          <p:nvPr/>
        </p:nvSpPr>
        <p:spPr>
          <a:xfrm>
            <a:off x="8503920" y="2697480"/>
            <a:ext cx="2971800" cy="640080"/>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€4.5M</a:t>
            </a:r>
            <a:endParaRPr lang="en-US" sz="3400" dirty="0"/>
          </a:p>
        </p:txBody>
      </p:sp>
      <p:sp>
        <p:nvSpPr>
          <p:cNvPr id="18" name="Text 13"/>
          <p:cNvSpPr txBox="1"/>
          <p:nvPr/>
        </p:nvSpPr>
        <p:spPr>
          <a:xfrm>
            <a:off x="8503920" y="3337560"/>
            <a:ext cx="2971800" cy="1005840"/>
          </a:xfrm>
          <a:prstGeom prst="rect">
            <a:avLst/>
          </a:prstGeom>
          <a:noFill/>
          <a:ln/>
        </p:spPr>
        <p:txBody>
          <a:bodyPr wrap="square" lIns="0" tIns="0" rIns="0" bIns="0" rtlCol="0" anchor="ctr"/>
          <a:lstStyle/>
          <a:p>
            <a:pPr indent="0" marL="0">
              <a:lnSpc>
                <a:spcPct val="120000"/>
              </a:lnSpc>
              <a:buNone/>
            </a:pPr>
            <a:r>
              <a:rPr lang="en-US" sz="1200" dirty="0">
                <a:solidFill>
                  <a:srgbClr val="27403F"/>
                </a:solidFill>
                <a:latin typeface="Calibri" pitchFamily="34" charset="0"/>
                <a:ea typeface="Calibri" pitchFamily="34" charset="-122"/>
                <a:cs typeface="Calibri" pitchFamily="34" charset="-120"/>
              </a:rPr>
              <a:t>Lost by Nigerian applicants to non-refundable Schengen fees in a single year</a:t>
            </a:r>
            <a:endParaRPr lang="en-US" sz="1200" dirty="0"/>
          </a:p>
        </p:txBody>
      </p:sp>
      <p:sp>
        <p:nvSpPr>
          <p:cNvPr id="19" name="Text 14"/>
          <p:cNvSpPr txBox="1"/>
          <p:nvPr/>
        </p:nvSpPr>
        <p:spPr>
          <a:xfrm>
            <a:off x="548640" y="4800600"/>
            <a:ext cx="10881360" cy="731520"/>
          </a:xfrm>
          <a:prstGeom prst="rect">
            <a:avLst/>
          </a:prstGeom>
          <a:noFill/>
          <a:ln/>
        </p:spPr>
        <p:txBody>
          <a:bodyPr wrap="square" lIns="0" tIns="0" rIns="0" bIns="0" rtlCol="0" anchor="ctr"/>
          <a:lstStyle/>
          <a:p>
            <a:pPr indent="0" marL="0">
              <a:buNone/>
            </a:pPr>
            <a:r>
              <a:rPr lang="en-US" sz="1400" i="1" dirty="0">
                <a:solidFill>
                  <a:srgbClr val="6B8A87"/>
                </a:solidFill>
                <a:latin typeface="Calibri" pitchFamily="34" charset="0"/>
                <a:ea typeface="Calibri" pitchFamily="34" charset="-122"/>
                <a:cs typeface="Calibri" pitchFamily="34" charset="-120"/>
              </a:rPr>
              <a:t>Add Canada and South Africa — both growing corridors for Nigerian travelers — and the addressable population of people preparing a visitor-visa application every year runs well into the hundreds of thousands.</a:t>
            </a:r>
            <a:endParaRPr lang="en-US" sz="1400" dirty="0"/>
          </a:p>
        </p:txBody>
      </p:sp>
      <p:sp>
        <p:nvSpPr>
          <p:cNvPr id="20" name="Text 15"/>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1" name="Text 1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THE SOLUTION</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A free, private co-pilot for the whole process</a:t>
            </a:r>
            <a:endParaRPr lang="en-US" sz="3200" dirty="0"/>
          </a:p>
        </p:txBody>
      </p:sp>
      <p:sp>
        <p:nvSpPr>
          <p:cNvPr id="4" name="Shape 2"/>
          <p:cNvSpPr/>
          <p:nvPr/>
        </p:nvSpPr>
        <p:spPr>
          <a:xfrm>
            <a:off x="548640" y="1691640"/>
            <a:ext cx="566928" cy="566928"/>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622341" y="1765341"/>
            <a:ext cx="419527" cy="419527"/>
          </a:xfrm>
          <a:prstGeom prst="rect">
            <a:avLst/>
          </a:prstGeom>
        </p:spPr>
      </p:pic>
      <p:sp>
        <p:nvSpPr>
          <p:cNvPr id="6" name="Text 3"/>
          <p:cNvSpPr txBox="1"/>
          <p:nvPr/>
        </p:nvSpPr>
        <p:spPr>
          <a:xfrm>
            <a:off x="1371600" y="1664208"/>
            <a:ext cx="987552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Country-specific document checklist</a:t>
            </a:r>
            <a:endParaRPr lang="en-US" sz="1500" dirty="0"/>
          </a:p>
        </p:txBody>
      </p:sp>
      <p:sp>
        <p:nvSpPr>
          <p:cNvPr id="7" name="Text 4"/>
          <p:cNvSpPr txBox="1"/>
          <p:nvPr/>
        </p:nvSpPr>
        <p:spPr>
          <a:xfrm>
            <a:off x="1371600" y="2002536"/>
            <a:ext cx="9875520" cy="45720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UK, Canada, Schengen and South Africa — built from official government guidance.</a:t>
            </a:r>
            <a:endParaRPr lang="en-US" sz="1250" dirty="0"/>
          </a:p>
        </p:txBody>
      </p:sp>
      <p:sp>
        <p:nvSpPr>
          <p:cNvPr id="8" name="Shape 5"/>
          <p:cNvSpPr/>
          <p:nvPr/>
        </p:nvSpPr>
        <p:spPr>
          <a:xfrm>
            <a:off x="548640" y="2532888"/>
            <a:ext cx="566928" cy="566928"/>
          </a:xfrm>
          <a:prstGeom prst="ellipse">
            <a:avLst/>
          </a:prstGeom>
          <a:solidFill>
            <a:srgbClr val="00A896"/>
          </a:solidFill>
          <a:ln/>
        </p:spPr>
      </p:sp>
      <p:pic>
        <p:nvPicPr>
          <p:cNvPr id="9" name="Image 1" descr="preencoded.png">    </p:cNvPr>
          <p:cNvPicPr>
            <a:picLocks noChangeAspect="1"/>
          </p:cNvPicPr>
          <p:nvPr/>
        </p:nvPicPr>
        <p:blipFill>
          <a:blip r:embed="rId2"/>
          <a:stretch>
            <a:fillRect/>
          </a:stretch>
        </p:blipFill>
        <p:spPr>
          <a:xfrm>
            <a:off x="622341" y="2606589"/>
            <a:ext cx="419527" cy="419527"/>
          </a:xfrm>
          <a:prstGeom prst="rect">
            <a:avLst/>
          </a:prstGeom>
        </p:spPr>
      </p:pic>
      <p:sp>
        <p:nvSpPr>
          <p:cNvPr id="10" name="Text 6"/>
          <p:cNvSpPr txBox="1"/>
          <p:nvPr/>
        </p:nvSpPr>
        <p:spPr>
          <a:xfrm>
            <a:off x="1371600" y="2505456"/>
            <a:ext cx="987552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In-browser passport scan</a:t>
            </a:r>
            <a:endParaRPr lang="en-US" sz="1500" dirty="0"/>
          </a:p>
        </p:txBody>
      </p:sp>
      <p:sp>
        <p:nvSpPr>
          <p:cNvPr id="11" name="Text 7"/>
          <p:cNvSpPr txBox="1"/>
          <p:nvPr/>
        </p:nvSpPr>
        <p:spPr>
          <a:xfrm>
            <a:off x="1371600" y="2843784"/>
            <a:ext cx="9875520" cy="45720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OCR reads your passport for you. Nothing is ever uploaded — it never leaves your device.</a:t>
            </a:r>
            <a:endParaRPr lang="en-US" sz="1250" dirty="0"/>
          </a:p>
        </p:txBody>
      </p:sp>
      <p:sp>
        <p:nvSpPr>
          <p:cNvPr id="12" name="Shape 8"/>
          <p:cNvSpPr/>
          <p:nvPr/>
        </p:nvSpPr>
        <p:spPr>
          <a:xfrm>
            <a:off x="548640" y="3374136"/>
            <a:ext cx="566928" cy="566928"/>
          </a:xfrm>
          <a:prstGeom prst="ellipse">
            <a:avLst/>
          </a:prstGeom>
          <a:solidFill>
            <a:srgbClr val="00A896"/>
          </a:solidFill>
          <a:ln/>
        </p:spPr>
      </p:sp>
      <p:pic>
        <p:nvPicPr>
          <p:cNvPr id="13" name="Image 2" descr="preencoded.png">    </p:cNvPr>
          <p:cNvPicPr>
            <a:picLocks noChangeAspect="1"/>
          </p:cNvPicPr>
          <p:nvPr/>
        </p:nvPicPr>
        <p:blipFill>
          <a:blip r:embed="rId3"/>
          <a:stretch>
            <a:fillRect/>
          </a:stretch>
        </p:blipFill>
        <p:spPr>
          <a:xfrm>
            <a:off x="622341" y="3447837"/>
            <a:ext cx="419527" cy="419527"/>
          </a:xfrm>
          <a:prstGeom prst="rect">
            <a:avLst/>
          </a:prstGeom>
        </p:spPr>
      </p:pic>
      <p:sp>
        <p:nvSpPr>
          <p:cNvPr id="14" name="Text 9"/>
          <p:cNvSpPr txBox="1"/>
          <p:nvPr/>
        </p:nvSpPr>
        <p:spPr>
          <a:xfrm>
            <a:off x="1371600" y="3346704"/>
            <a:ext cx="987552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Financial readiness calculator</a:t>
            </a:r>
            <a:endParaRPr lang="en-US" sz="1500" dirty="0"/>
          </a:p>
        </p:txBody>
      </p:sp>
      <p:sp>
        <p:nvSpPr>
          <p:cNvPr id="15" name="Text 10"/>
          <p:cNvSpPr txBox="1"/>
          <p:nvPr/>
        </p:nvSpPr>
        <p:spPr>
          <a:xfrm>
            <a:off x="1371600" y="3685032"/>
            <a:ext cx="9875520" cy="45720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Reads your bank statement locally and tells you exactly where the gaps are.</a:t>
            </a:r>
            <a:endParaRPr lang="en-US" sz="1250" dirty="0"/>
          </a:p>
        </p:txBody>
      </p:sp>
      <p:sp>
        <p:nvSpPr>
          <p:cNvPr id="16" name="Shape 11"/>
          <p:cNvSpPr/>
          <p:nvPr/>
        </p:nvSpPr>
        <p:spPr>
          <a:xfrm>
            <a:off x="548640" y="4215384"/>
            <a:ext cx="566928" cy="566928"/>
          </a:xfrm>
          <a:prstGeom prst="ellipse">
            <a:avLst/>
          </a:prstGeom>
          <a:solidFill>
            <a:srgbClr val="00A896"/>
          </a:solidFill>
          <a:ln/>
        </p:spPr>
      </p:sp>
      <p:pic>
        <p:nvPicPr>
          <p:cNvPr id="17" name="Image 3" descr="preencoded.png">    </p:cNvPr>
          <p:cNvPicPr>
            <a:picLocks noChangeAspect="1"/>
          </p:cNvPicPr>
          <p:nvPr/>
        </p:nvPicPr>
        <p:blipFill>
          <a:blip r:embed="rId4"/>
          <a:stretch>
            <a:fillRect/>
          </a:stretch>
        </p:blipFill>
        <p:spPr>
          <a:xfrm>
            <a:off x="622341" y="4289085"/>
            <a:ext cx="419527" cy="419527"/>
          </a:xfrm>
          <a:prstGeom prst="rect">
            <a:avLst/>
          </a:prstGeom>
        </p:spPr>
      </p:pic>
      <p:sp>
        <p:nvSpPr>
          <p:cNvPr id="18" name="Text 12"/>
          <p:cNvSpPr txBox="1"/>
          <p:nvPr/>
        </p:nvSpPr>
        <p:spPr>
          <a:xfrm>
            <a:off x="1371600" y="4187952"/>
            <a:ext cx="987552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Funded-opportunities directory</a:t>
            </a:r>
            <a:endParaRPr lang="en-US" sz="1500" dirty="0"/>
          </a:p>
        </p:txBody>
      </p:sp>
      <p:sp>
        <p:nvSpPr>
          <p:cNvPr id="19" name="Text 13"/>
          <p:cNvSpPr txBox="1"/>
          <p:nvPr/>
        </p:nvSpPr>
        <p:spPr>
          <a:xfrm>
            <a:off x="1371600" y="4526280"/>
            <a:ext cx="9875520" cy="45720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A vetted list of real scholarships and grants, for applicants who need one.</a:t>
            </a:r>
            <a:endParaRPr lang="en-US" sz="1250" dirty="0"/>
          </a:p>
        </p:txBody>
      </p:sp>
      <p:sp>
        <p:nvSpPr>
          <p:cNvPr id="20" name="Shape 14"/>
          <p:cNvSpPr/>
          <p:nvPr/>
        </p:nvSpPr>
        <p:spPr>
          <a:xfrm>
            <a:off x="548640" y="5056632"/>
            <a:ext cx="566928" cy="566928"/>
          </a:xfrm>
          <a:prstGeom prst="ellipse">
            <a:avLst/>
          </a:prstGeom>
          <a:solidFill>
            <a:srgbClr val="00A896"/>
          </a:solidFill>
          <a:ln/>
        </p:spPr>
      </p:sp>
      <p:pic>
        <p:nvPicPr>
          <p:cNvPr id="21" name="Image 4" descr="preencoded.png">    </p:cNvPr>
          <p:cNvPicPr>
            <a:picLocks noChangeAspect="1"/>
          </p:cNvPicPr>
          <p:nvPr/>
        </p:nvPicPr>
        <p:blipFill>
          <a:blip r:embed="rId5"/>
          <a:stretch>
            <a:fillRect/>
          </a:stretch>
        </p:blipFill>
        <p:spPr>
          <a:xfrm>
            <a:off x="622341" y="5130333"/>
            <a:ext cx="419527" cy="419527"/>
          </a:xfrm>
          <a:prstGeom prst="rect">
            <a:avLst/>
          </a:prstGeom>
        </p:spPr>
      </p:pic>
      <p:sp>
        <p:nvSpPr>
          <p:cNvPr id="22" name="Text 15"/>
          <p:cNvSpPr txBox="1"/>
          <p:nvPr/>
        </p:nvSpPr>
        <p:spPr>
          <a:xfrm>
            <a:off x="1371600" y="5029200"/>
            <a:ext cx="987552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100% free, no account, no ads</a:t>
            </a:r>
            <a:endParaRPr lang="en-US" sz="1500" dirty="0"/>
          </a:p>
        </p:txBody>
      </p:sp>
      <p:sp>
        <p:nvSpPr>
          <p:cNvPr id="23" name="Text 16"/>
          <p:cNvSpPr txBox="1"/>
          <p:nvPr/>
        </p:nvSpPr>
        <p:spPr>
          <a:xfrm>
            <a:off x="1371600" y="5367528"/>
            <a:ext cx="9875520" cy="45720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The trust the whole product is built on — nothing to sign up for, nothing to hide.</a:t>
            </a:r>
            <a:endParaRPr lang="en-US" sz="1250" dirty="0"/>
          </a:p>
        </p:txBody>
      </p:sp>
      <p:sp>
        <p:nvSpPr>
          <p:cNvPr id="24" name="Text 17"/>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5" name="Text 1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Five steps, entirely in the applicant's browser</a:t>
            </a:r>
            <a:endParaRPr lang="en-US" sz="3200" dirty="0"/>
          </a:p>
        </p:txBody>
      </p:sp>
      <p:sp>
        <p:nvSpPr>
          <p:cNvPr id="4" name="Shape 2"/>
          <p:cNvSpPr/>
          <p:nvPr/>
        </p:nvSpPr>
        <p:spPr>
          <a:xfrm>
            <a:off x="2161002" y="2788920"/>
            <a:ext cx="7869692" cy="32004"/>
          </a:xfrm>
          <a:prstGeom prst="rect">
            <a:avLst/>
          </a:prstGeom>
          <a:solidFill>
            <a:srgbClr val="EAF6F5"/>
          </a:solidFill>
          <a:ln/>
        </p:spPr>
      </p:sp>
      <p:sp>
        <p:nvSpPr>
          <p:cNvPr id="5" name="Shape 3"/>
          <p:cNvSpPr/>
          <p:nvPr/>
        </p:nvSpPr>
        <p:spPr>
          <a:xfrm>
            <a:off x="1155162" y="2194560"/>
            <a:ext cx="1005840" cy="100584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1285921" y="2325319"/>
            <a:ext cx="744322" cy="744322"/>
          </a:xfrm>
          <a:prstGeom prst="rect">
            <a:avLst/>
          </a:prstGeom>
        </p:spPr>
      </p:pic>
      <p:sp>
        <p:nvSpPr>
          <p:cNvPr id="7" name="Text 4"/>
          <p:cNvSpPr txBox="1"/>
          <p:nvPr/>
        </p:nvSpPr>
        <p:spPr>
          <a:xfrm>
            <a:off x="1475202" y="1874520"/>
            <a:ext cx="365760" cy="365760"/>
          </a:xfrm>
          <a:prstGeom prst="rect">
            <a:avLst/>
          </a:prstGeom>
          <a:noFill/>
          <a:ln/>
        </p:spPr>
        <p:txBody>
          <a:bodyPr wrap="square" lIns="0" tIns="0" rIns="0" bIns="0" rtlCol="0" anchor="ctr"/>
          <a:lstStyle/>
          <a:p>
            <a:pPr algn="ctr" indent="0" marL="0">
              <a:buNone/>
            </a:pPr>
            <a:r>
              <a:rPr lang="en-US" sz="1500" b="1" dirty="0">
                <a:solidFill>
                  <a:srgbClr val="6B8A87"/>
                </a:solidFill>
                <a:latin typeface="Cambria" pitchFamily="34" charset="0"/>
                <a:ea typeface="Cambria" pitchFamily="34" charset="-122"/>
                <a:cs typeface="Cambria" pitchFamily="34" charset="-120"/>
              </a:rPr>
              <a:t>1</a:t>
            </a:r>
            <a:endParaRPr lang="en-US" sz="1500" dirty="0"/>
          </a:p>
        </p:txBody>
      </p:sp>
      <p:sp>
        <p:nvSpPr>
          <p:cNvPr id="8" name="Text 5"/>
          <p:cNvSpPr txBox="1"/>
          <p:nvPr/>
        </p:nvSpPr>
        <p:spPr>
          <a:xfrm>
            <a:off x="640080" y="3383280"/>
            <a:ext cx="2036003" cy="731520"/>
          </a:xfrm>
          <a:prstGeom prst="rect">
            <a:avLst/>
          </a:prstGeom>
          <a:noFill/>
          <a:ln/>
        </p:spPr>
        <p:txBody>
          <a:bodyPr wrap="square" lIns="0" tIns="0" rIns="0" bIns="0" rtlCol="0" anchor="ctr"/>
          <a:lstStyle/>
          <a:p>
            <a:pPr algn="ctr" indent="0" marL="0">
              <a:buNone/>
            </a:pPr>
            <a:r>
              <a:rPr lang="en-US" sz="1300" b="1" dirty="0">
                <a:solidFill>
                  <a:srgbClr val="0B2027"/>
                </a:solidFill>
                <a:latin typeface="Calibri" pitchFamily="34" charset="0"/>
                <a:ea typeface="Calibri" pitchFamily="34" charset="-122"/>
                <a:cs typeface="Calibri" pitchFamily="34" charset="-120"/>
              </a:rPr>
              <a:t>Quick readiness quiz</a:t>
            </a:r>
            <a:endParaRPr lang="en-US" sz="1300" dirty="0"/>
          </a:p>
        </p:txBody>
      </p:sp>
      <p:sp>
        <p:nvSpPr>
          <p:cNvPr id="9" name="Text 6"/>
          <p:cNvSpPr txBox="1"/>
          <p:nvPr/>
        </p:nvSpPr>
        <p:spPr>
          <a:xfrm>
            <a:off x="640080" y="4023360"/>
            <a:ext cx="2036003" cy="822960"/>
          </a:xfrm>
          <a:prstGeom prst="rect">
            <a:avLst/>
          </a:prstGeom>
          <a:noFill/>
          <a:ln/>
        </p:spPr>
        <p:txBody>
          <a:bodyPr wrap="square" lIns="0" tIns="0" rIns="0" bIns="0" rtlCol="0" anchor="ctr"/>
          <a:lstStyle/>
          <a:p>
            <a:pPr algn="ctr" indent="0" marL="0">
              <a:buNone/>
            </a:pPr>
            <a:r>
              <a:rPr lang="en-US" sz="1050" dirty="0">
                <a:solidFill>
                  <a:srgbClr val="6B8A87"/>
                </a:solidFill>
                <a:latin typeface="Calibri" pitchFamily="34" charset="0"/>
                <a:ea typeface="Calibri" pitchFamily="34" charset="-122"/>
                <a:cs typeface="Calibri" pitchFamily="34" charset="-120"/>
              </a:rPr>
              <a:t>2–3 minutes to gauge where you stand</a:t>
            </a:r>
            <a:endParaRPr lang="en-US" sz="1050" dirty="0"/>
          </a:p>
        </p:txBody>
      </p:sp>
      <p:sp>
        <p:nvSpPr>
          <p:cNvPr id="10" name="Shape 7"/>
          <p:cNvSpPr/>
          <p:nvPr/>
        </p:nvSpPr>
        <p:spPr>
          <a:xfrm>
            <a:off x="3374045" y="2194560"/>
            <a:ext cx="1005840" cy="1005840"/>
          </a:xfrm>
          <a:prstGeom prst="ellipse">
            <a:avLst/>
          </a:prstGeom>
          <a:solidFill>
            <a:srgbClr val="02C39A"/>
          </a:solidFill>
          <a:ln/>
        </p:spPr>
      </p:sp>
      <p:pic>
        <p:nvPicPr>
          <p:cNvPr id="11" name="Image 1" descr="preencoded.png">    </p:cNvPr>
          <p:cNvPicPr>
            <a:picLocks noChangeAspect="1"/>
          </p:cNvPicPr>
          <p:nvPr/>
        </p:nvPicPr>
        <p:blipFill>
          <a:blip r:embed="rId2"/>
          <a:stretch>
            <a:fillRect/>
          </a:stretch>
        </p:blipFill>
        <p:spPr>
          <a:xfrm>
            <a:off x="3504804" y="2325319"/>
            <a:ext cx="744322" cy="744322"/>
          </a:xfrm>
          <a:prstGeom prst="rect">
            <a:avLst/>
          </a:prstGeom>
        </p:spPr>
      </p:pic>
      <p:sp>
        <p:nvSpPr>
          <p:cNvPr id="12" name="Text 8"/>
          <p:cNvSpPr txBox="1"/>
          <p:nvPr/>
        </p:nvSpPr>
        <p:spPr>
          <a:xfrm>
            <a:off x="3694085" y="1874520"/>
            <a:ext cx="365760" cy="365760"/>
          </a:xfrm>
          <a:prstGeom prst="rect">
            <a:avLst/>
          </a:prstGeom>
          <a:noFill/>
          <a:ln/>
        </p:spPr>
        <p:txBody>
          <a:bodyPr wrap="square" lIns="0" tIns="0" rIns="0" bIns="0" rtlCol="0" anchor="ctr"/>
          <a:lstStyle/>
          <a:p>
            <a:pPr algn="ctr" indent="0" marL="0">
              <a:buNone/>
            </a:pPr>
            <a:r>
              <a:rPr lang="en-US" sz="1500" b="1" dirty="0">
                <a:solidFill>
                  <a:srgbClr val="6B8A87"/>
                </a:solidFill>
                <a:latin typeface="Cambria" pitchFamily="34" charset="0"/>
                <a:ea typeface="Cambria" pitchFamily="34" charset="-122"/>
                <a:cs typeface="Cambria" pitchFamily="34" charset="-120"/>
              </a:rPr>
              <a:t>2</a:t>
            </a:r>
            <a:endParaRPr lang="en-US" sz="1500" dirty="0"/>
          </a:p>
        </p:txBody>
      </p:sp>
      <p:sp>
        <p:nvSpPr>
          <p:cNvPr id="13" name="Text 9"/>
          <p:cNvSpPr txBox="1"/>
          <p:nvPr/>
        </p:nvSpPr>
        <p:spPr>
          <a:xfrm>
            <a:off x="2858963" y="3383280"/>
            <a:ext cx="2036003" cy="731520"/>
          </a:xfrm>
          <a:prstGeom prst="rect">
            <a:avLst/>
          </a:prstGeom>
          <a:noFill/>
          <a:ln/>
        </p:spPr>
        <p:txBody>
          <a:bodyPr wrap="square" lIns="0" tIns="0" rIns="0" bIns="0" rtlCol="0" anchor="ctr"/>
          <a:lstStyle/>
          <a:p>
            <a:pPr algn="ctr" indent="0" marL="0">
              <a:buNone/>
            </a:pPr>
            <a:r>
              <a:rPr lang="en-US" sz="1300" b="1" dirty="0">
                <a:solidFill>
                  <a:srgbClr val="0B2027"/>
                </a:solidFill>
                <a:latin typeface="Calibri" pitchFamily="34" charset="0"/>
                <a:ea typeface="Calibri" pitchFamily="34" charset="-122"/>
                <a:cs typeface="Calibri" pitchFamily="34" charset="-120"/>
              </a:rPr>
              <a:t>Country-specific checklist</a:t>
            </a:r>
            <a:endParaRPr lang="en-US" sz="1300" dirty="0"/>
          </a:p>
        </p:txBody>
      </p:sp>
      <p:sp>
        <p:nvSpPr>
          <p:cNvPr id="14" name="Text 10"/>
          <p:cNvSpPr txBox="1"/>
          <p:nvPr/>
        </p:nvSpPr>
        <p:spPr>
          <a:xfrm>
            <a:off x="2858963" y="4023360"/>
            <a:ext cx="2036003" cy="822960"/>
          </a:xfrm>
          <a:prstGeom prst="rect">
            <a:avLst/>
          </a:prstGeom>
          <a:noFill/>
          <a:ln/>
        </p:spPr>
        <p:txBody>
          <a:bodyPr wrap="square" lIns="0" tIns="0" rIns="0" bIns="0" rtlCol="0" anchor="ctr"/>
          <a:lstStyle/>
          <a:p>
            <a:pPr algn="ctr" indent="0" marL="0">
              <a:buNone/>
            </a:pPr>
            <a:r>
              <a:rPr lang="en-US" sz="1050" dirty="0">
                <a:solidFill>
                  <a:srgbClr val="6B8A87"/>
                </a:solidFill>
                <a:latin typeface="Calibri" pitchFamily="34" charset="0"/>
                <a:ea typeface="Calibri" pitchFamily="34" charset="-122"/>
                <a:cs typeface="Calibri" pitchFamily="34" charset="-120"/>
              </a:rPr>
              <a:t>Pre-filled from your quiz answers</a:t>
            </a:r>
            <a:endParaRPr lang="en-US" sz="1050" dirty="0"/>
          </a:p>
        </p:txBody>
      </p:sp>
      <p:sp>
        <p:nvSpPr>
          <p:cNvPr id="15" name="Shape 11"/>
          <p:cNvSpPr/>
          <p:nvPr/>
        </p:nvSpPr>
        <p:spPr>
          <a:xfrm>
            <a:off x="5592928" y="2194560"/>
            <a:ext cx="1005840" cy="1005840"/>
          </a:xfrm>
          <a:prstGeom prst="ellipse">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5723687" y="2325319"/>
            <a:ext cx="744322" cy="744322"/>
          </a:xfrm>
          <a:prstGeom prst="rect">
            <a:avLst/>
          </a:prstGeom>
        </p:spPr>
      </p:pic>
      <p:sp>
        <p:nvSpPr>
          <p:cNvPr id="17" name="Text 12"/>
          <p:cNvSpPr txBox="1"/>
          <p:nvPr/>
        </p:nvSpPr>
        <p:spPr>
          <a:xfrm>
            <a:off x="5912968" y="1874520"/>
            <a:ext cx="365760" cy="365760"/>
          </a:xfrm>
          <a:prstGeom prst="rect">
            <a:avLst/>
          </a:prstGeom>
          <a:noFill/>
          <a:ln/>
        </p:spPr>
        <p:txBody>
          <a:bodyPr wrap="square" lIns="0" tIns="0" rIns="0" bIns="0" rtlCol="0" anchor="ctr"/>
          <a:lstStyle/>
          <a:p>
            <a:pPr algn="ctr" indent="0" marL="0">
              <a:buNone/>
            </a:pPr>
            <a:r>
              <a:rPr lang="en-US" sz="1500" b="1" dirty="0">
                <a:solidFill>
                  <a:srgbClr val="6B8A87"/>
                </a:solidFill>
                <a:latin typeface="Cambria" pitchFamily="34" charset="0"/>
                <a:ea typeface="Cambria" pitchFamily="34" charset="-122"/>
                <a:cs typeface="Cambria" pitchFamily="34" charset="-120"/>
              </a:rPr>
              <a:t>3</a:t>
            </a:r>
            <a:endParaRPr lang="en-US" sz="1500" dirty="0"/>
          </a:p>
        </p:txBody>
      </p:sp>
      <p:sp>
        <p:nvSpPr>
          <p:cNvPr id="18" name="Text 13"/>
          <p:cNvSpPr txBox="1"/>
          <p:nvPr/>
        </p:nvSpPr>
        <p:spPr>
          <a:xfrm>
            <a:off x="5077846" y="3383280"/>
            <a:ext cx="2036003" cy="731520"/>
          </a:xfrm>
          <a:prstGeom prst="rect">
            <a:avLst/>
          </a:prstGeom>
          <a:noFill/>
          <a:ln/>
        </p:spPr>
        <p:txBody>
          <a:bodyPr wrap="square" lIns="0" tIns="0" rIns="0" bIns="0" rtlCol="0" anchor="ctr"/>
          <a:lstStyle/>
          <a:p>
            <a:pPr algn="ctr" indent="0" marL="0">
              <a:buNone/>
            </a:pPr>
            <a:r>
              <a:rPr lang="en-US" sz="1300" b="1" dirty="0">
                <a:solidFill>
                  <a:srgbClr val="0B2027"/>
                </a:solidFill>
                <a:latin typeface="Calibri" pitchFamily="34" charset="0"/>
                <a:ea typeface="Calibri" pitchFamily="34" charset="-122"/>
                <a:cs typeface="Calibri" pitchFamily="34" charset="-120"/>
              </a:rPr>
              <a:t>Passport + statement scan</a:t>
            </a:r>
            <a:endParaRPr lang="en-US" sz="1300" dirty="0"/>
          </a:p>
        </p:txBody>
      </p:sp>
      <p:sp>
        <p:nvSpPr>
          <p:cNvPr id="19" name="Text 14"/>
          <p:cNvSpPr txBox="1"/>
          <p:nvPr/>
        </p:nvSpPr>
        <p:spPr>
          <a:xfrm>
            <a:off x="5077846" y="4023360"/>
            <a:ext cx="2036003" cy="822960"/>
          </a:xfrm>
          <a:prstGeom prst="rect">
            <a:avLst/>
          </a:prstGeom>
          <a:noFill/>
          <a:ln/>
        </p:spPr>
        <p:txBody>
          <a:bodyPr wrap="square" lIns="0" tIns="0" rIns="0" bIns="0" rtlCol="0" anchor="ctr"/>
          <a:lstStyle/>
          <a:p>
            <a:pPr algn="ctr" indent="0" marL="0">
              <a:buNone/>
            </a:pPr>
            <a:r>
              <a:rPr lang="en-US" sz="1050" dirty="0">
                <a:solidFill>
                  <a:srgbClr val="6B8A87"/>
                </a:solidFill>
                <a:latin typeface="Calibri" pitchFamily="34" charset="0"/>
                <a:ea typeface="Calibri" pitchFamily="34" charset="-122"/>
                <a:cs typeface="Calibri" pitchFamily="34" charset="-120"/>
              </a:rPr>
              <a:t>Read on-device, never uploaded</a:t>
            </a:r>
            <a:endParaRPr lang="en-US" sz="1050" dirty="0"/>
          </a:p>
        </p:txBody>
      </p:sp>
      <p:sp>
        <p:nvSpPr>
          <p:cNvPr id="20" name="Shape 15"/>
          <p:cNvSpPr/>
          <p:nvPr/>
        </p:nvSpPr>
        <p:spPr>
          <a:xfrm>
            <a:off x="7811811" y="2194560"/>
            <a:ext cx="1005840" cy="1005840"/>
          </a:xfrm>
          <a:prstGeom prst="ellipse">
            <a:avLst/>
          </a:prstGeom>
          <a:solidFill>
            <a:srgbClr val="02C39A"/>
          </a:solidFill>
          <a:ln/>
        </p:spPr>
      </p:sp>
      <p:pic>
        <p:nvPicPr>
          <p:cNvPr id="21" name="Image 3" descr="preencoded.png">    </p:cNvPr>
          <p:cNvPicPr>
            <a:picLocks noChangeAspect="1"/>
          </p:cNvPicPr>
          <p:nvPr/>
        </p:nvPicPr>
        <p:blipFill>
          <a:blip r:embed="rId4"/>
          <a:stretch>
            <a:fillRect/>
          </a:stretch>
        </p:blipFill>
        <p:spPr>
          <a:xfrm>
            <a:off x="7942570" y="2325319"/>
            <a:ext cx="744322" cy="744322"/>
          </a:xfrm>
          <a:prstGeom prst="rect">
            <a:avLst/>
          </a:prstGeom>
        </p:spPr>
      </p:pic>
      <p:sp>
        <p:nvSpPr>
          <p:cNvPr id="22" name="Text 16"/>
          <p:cNvSpPr txBox="1"/>
          <p:nvPr/>
        </p:nvSpPr>
        <p:spPr>
          <a:xfrm>
            <a:off x="8131851" y="1874520"/>
            <a:ext cx="365760" cy="365760"/>
          </a:xfrm>
          <a:prstGeom prst="rect">
            <a:avLst/>
          </a:prstGeom>
          <a:noFill/>
          <a:ln/>
        </p:spPr>
        <p:txBody>
          <a:bodyPr wrap="square" lIns="0" tIns="0" rIns="0" bIns="0" rtlCol="0" anchor="ctr"/>
          <a:lstStyle/>
          <a:p>
            <a:pPr algn="ctr" indent="0" marL="0">
              <a:buNone/>
            </a:pPr>
            <a:r>
              <a:rPr lang="en-US" sz="1500" b="1" dirty="0">
                <a:solidFill>
                  <a:srgbClr val="6B8A87"/>
                </a:solidFill>
                <a:latin typeface="Cambria" pitchFamily="34" charset="0"/>
                <a:ea typeface="Cambria" pitchFamily="34" charset="-122"/>
                <a:cs typeface="Cambria" pitchFamily="34" charset="-120"/>
              </a:rPr>
              <a:t>4</a:t>
            </a:r>
            <a:endParaRPr lang="en-US" sz="1500" dirty="0"/>
          </a:p>
        </p:txBody>
      </p:sp>
      <p:sp>
        <p:nvSpPr>
          <p:cNvPr id="23" name="Text 17"/>
          <p:cNvSpPr txBox="1"/>
          <p:nvPr/>
        </p:nvSpPr>
        <p:spPr>
          <a:xfrm>
            <a:off x="7296729" y="3383280"/>
            <a:ext cx="2036003" cy="731520"/>
          </a:xfrm>
          <a:prstGeom prst="rect">
            <a:avLst/>
          </a:prstGeom>
          <a:noFill/>
          <a:ln/>
        </p:spPr>
        <p:txBody>
          <a:bodyPr wrap="square" lIns="0" tIns="0" rIns="0" bIns="0" rtlCol="0" anchor="ctr"/>
          <a:lstStyle/>
          <a:p>
            <a:pPr algn="ctr" indent="0" marL="0">
              <a:buNone/>
            </a:pPr>
            <a:r>
              <a:rPr lang="en-US" sz="1300" b="1" dirty="0">
                <a:solidFill>
                  <a:srgbClr val="0B2027"/>
                </a:solidFill>
                <a:latin typeface="Calibri" pitchFamily="34" charset="0"/>
                <a:ea typeface="Calibri" pitchFamily="34" charset="-122"/>
                <a:cs typeface="Calibri" pitchFamily="34" charset="-120"/>
              </a:rPr>
              <a:t>Guided, session-by-session prep</a:t>
            </a:r>
            <a:endParaRPr lang="en-US" sz="1300" dirty="0"/>
          </a:p>
        </p:txBody>
      </p:sp>
      <p:sp>
        <p:nvSpPr>
          <p:cNvPr id="24" name="Text 18"/>
          <p:cNvSpPr txBox="1"/>
          <p:nvPr/>
        </p:nvSpPr>
        <p:spPr>
          <a:xfrm>
            <a:off x="7296729" y="4023360"/>
            <a:ext cx="2036003" cy="822960"/>
          </a:xfrm>
          <a:prstGeom prst="rect">
            <a:avLst/>
          </a:prstGeom>
          <a:noFill/>
          <a:ln/>
        </p:spPr>
        <p:txBody>
          <a:bodyPr wrap="square" lIns="0" tIns="0" rIns="0" bIns="0" rtlCol="0" anchor="ctr"/>
          <a:lstStyle/>
          <a:p>
            <a:pPr algn="ctr" indent="0" marL="0">
              <a:buNone/>
            </a:pPr>
            <a:r>
              <a:rPr lang="en-US" sz="1050" dirty="0">
                <a:solidFill>
                  <a:srgbClr val="6B8A87"/>
                </a:solidFill>
                <a:latin typeface="Calibri" pitchFamily="34" charset="0"/>
                <a:ea typeface="Calibri" pitchFamily="34" charset="-122"/>
                <a:cs typeface="Calibri" pitchFamily="34" charset="-120"/>
              </a:rPr>
              <a:t>One topic at a time, nothing overwhelming</a:t>
            </a:r>
            <a:endParaRPr lang="en-US" sz="1050" dirty="0"/>
          </a:p>
        </p:txBody>
      </p:sp>
      <p:sp>
        <p:nvSpPr>
          <p:cNvPr id="25" name="Shape 19"/>
          <p:cNvSpPr/>
          <p:nvPr/>
        </p:nvSpPr>
        <p:spPr>
          <a:xfrm>
            <a:off x="10030694" y="2194560"/>
            <a:ext cx="1005840" cy="1005840"/>
          </a:xfrm>
          <a:prstGeom prst="ellipse">
            <a:avLst/>
          </a:prstGeom>
          <a:solidFill>
            <a:srgbClr val="028090"/>
          </a:solidFill>
          <a:ln/>
        </p:spPr>
      </p:sp>
      <p:pic>
        <p:nvPicPr>
          <p:cNvPr id="26" name="Image 4" descr="preencoded.png">    </p:cNvPr>
          <p:cNvPicPr>
            <a:picLocks noChangeAspect="1"/>
          </p:cNvPicPr>
          <p:nvPr/>
        </p:nvPicPr>
        <p:blipFill>
          <a:blip r:embed="rId5"/>
          <a:stretch>
            <a:fillRect/>
          </a:stretch>
        </p:blipFill>
        <p:spPr>
          <a:xfrm>
            <a:off x="10161453" y="2325319"/>
            <a:ext cx="744322" cy="744322"/>
          </a:xfrm>
          <a:prstGeom prst="rect">
            <a:avLst/>
          </a:prstGeom>
        </p:spPr>
      </p:pic>
      <p:sp>
        <p:nvSpPr>
          <p:cNvPr id="27" name="Text 20"/>
          <p:cNvSpPr txBox="1"/>
          <p:nvPr/>
        </p:nvSpPr>
        <p:spPr>
          <a:xfrm>
            <a:off x="10350734" y="1874520"/>
            <a:ext cx="365760" cy="365760"/>
          </a:xfrm>
          <a:prstGeom prst="rect">
            <a:avLst/>
          </a:prstGeom>
          <a:noFill/>
          <a:ln/>
        </p:spPr>
        <p:txBody>
          <a:bodyPr wrap="square" lIns="0" tIns="0" rIns="0" bIns="0" rtlCol="0" anchor="ctr"/>
          <a:lstStyle/>
          <a:p>
            <a:pPr algn="ctr" indent="0" marL="0">
              <a:buNone/>
            </a:pPr>
            <a:r>
              <a:rPr lang="en-US" sz="1500" b="1" dirty="0">
                <a:solidFill>
                  <a:srgbClr val="6B8A87"/>
                </a:solidFill>
                <a:latin typeface="Cambria" pitchFamily="34" charset="0"/>
                <a:ea typeface="Cambria" pitchFamily="34" charset="-122"/>
                <a:cs typeface="Cambria" pitchFamily="34" charset="-120"/>
              </a:rPr>
              <a:t>5</a:t>
            </a:r>
            <a:endParaRPr lang="en-US" sz="1500" dirty="0"/>
          </a:p>
        </p:txBody>
      </p:sp>
      <p:sp>
        <p:nvSpPr>
          <p:cNvPr id="28" name="Text 21"/>
          <p:cNvSpPr txBox="1"/>
          <p:nvPr/>
        </p:nvSpPr>
        <p:spPr>
          <a:xfrm>
            <a:off x="9515612" y="3383280"/>
            <a:ext cx="2036003" cy="731520"/>
          </a:xfrm>
          <a:prstGeom prst="rect">
            <a:avLst/>
          </a:prstGeom>
          <a:noFill/>
          <a:ln/>
        </p:spPr>
        <p:txBody>
          <a:bodyPr wrap="square" lIns="0" tIns="0" rIns="0" bIns="0" rtlCol="0" anchor="ctr"/>
          <a:lstStyle/>
          <a:p>
            <a:pPr algn="ctr" indent="0" marL="0">
              <a:buNone/>
            </a:pPr>
            <a:r>
              <a:rPr lang="en-US" sz="1300" b="1" dirty="0">
                <a:solidFill>
                  <a:srgbClr val="0B2027"/>
                </a:solidFill>
                <a:latin typeface="Calibri" pitchFamily="34" charset="0"/>
                <a:ea typeface="Calibri" pitchFamily="34" charset="-122"/>
                <a:cs typeface="Calibri" pitchFamily="34" charset="-120"/>
              </a:rPr>
              <a:t>Ready-to-submit confidence score</a:t>
            </a:r>
            <a:endParaRPr lang="en-US" sz="1300" dirty="0"/>
          </a:p>
        </p:txBody>
      </p:sp>
      <p:sp>
        <p:nvSpPr>
          <p:cNvPr id="29" name="Text 22"/>
          <p:cNvSpPr txBox="1"/>
          <p:nvPr/>
        </p:nvSpPr>
        <p:spPr>
          <a:xfrm>
            <a:off x="9515612" y="4023360"/>
            <a:ext cx="2036003" cy="822960"/>
          </a:xfrm>
          <a:prstGeom prst="rect">
            <a:avLst/>
          </a:prstGeom>
          <a:noFill/>
          <a:ln/>
        </p:spPr>
        <p:txBody>
          <a:bodyPr wrap="square" lIns="0" tIns="0" rIns="0" bIns="0" rtlCol="0" anchor="ctr"/>
          <a:lstStyle/>
          <a:p>
            <a:pPr algn="ctr" indent="0" marL="0">
              <a:buNone/>
            </a:pPr>
            <a:r>
              <a:rPr lang="en-US" sz="1050" dirty="0">
                <a:solidFill>
                  <a:srgbClr val="6B8A87"/>
                </a:solidFill>
                <a:latin typeface="Calibri" pitchFamily="34" charset="0"/>
                <a:ea typeface="Calibri" pitchFamily="34" charset="-122"/>
                <a:cs typeface="Calibri" pitchFamily="34" charset="-120"/>
              </a:rPr>
              <a:t>Know you're ready before you pay a visa fee</a:t>
            </a:r>
            <a:endParaRPr lang="en-US" sz="1050" dirty="0"/>
          </a:p>
        </p:txBody>
      </p:sp>
      <p:sp>
        <p:nvSpPr>
          <p:cNvPr id="30" name="Text 23"/>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31" name="Text 24"/>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TRACTION</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Real usage. Real iteration.</a:t>
            </a:r>
            <a:endParaRPr lang="en-US" sz="3200" dirty="0"/>
          </a:p>
        </p:txBody>
      </p:sp>
      <p:sp>
        <p:nvSpPr>
          <p:cNvPr id="4" name="Shape 2"/>
          <p:cNvSpPr/>
          <p:nvPr/>
        </p:nvSpPr>
        <p:spPr>
          <a:xfrm>
            <a:off x="548640" y="1737360"/>
            <a:ext cx="594360" cy="59436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625907" y="1814627"/>
            <a:ext cx="439826" cy="439826"/>
          </a:xfrm>
          <a:prstGeom prst="rect">
            <a:avLst/>
          </a:prstGeom>
        </p:spPr>
      </p:pic>
      <p:sp>
        <p:nvSpPr>
          <p:cNvPr id="6" name="Text 3"/>
          <p:cNvSpPr txBox="1"/>
          <p:nvPr/>
        </p:nvSpPr>
        <p:spPr>
          <a:xfrm>
            <a:off x="1371600" y="1737360"/>
            <a:ext cx="493776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Real usage — and a clear next test</a:t>
            </a:r>
            <a:endParaRPr lang="en-US" sz="1500" dirty="0"/>
          </a:p>
        </p:txBody>
      </p:sp>
      <p:sp>
        <p:nvSpPr>
          <p:cNvPr id="7" name="Text 4"/>
          <p:cNvSpPr txBox="1"/>
          <p:nvPr/>
        </p:nvSpPr>
        <p:spPr>
          <a:xfrm>
            <a:off x="1371600" y="2084832"/>
            <a:ext cx="4937760" cy="777240"/>
          </a:xfrm>
          <a:prstGeom prst="rect">
            <a:avLst/>
          </a:prstGeom>
          <a:noFill/>
          <a:ln/>
        </p:spPr>
        <p:txBody>
          <a:bodyPr wrap="square" lIns="0" tIns="0" rIns="0" bIns="0" rtlCol="0" anchor="ctr"/>
          <a:lstStyle/>
          <a:p>
            <a:pPr indent="0" marL="0">
              <a:lnSpc>
                <a:spcPct val="115000"/>
              </a:lnSpc>
              <a:buNone/>
            </a:pPr>
            <a:r>
              <a:rPr lang="en-US" sz="1250" dirty="0">
                <a:solidFill>
                  <a:srgbClr val="27403F"/>
                </a:solidFill>
                <a:latin typeface="Calibri" pitchFamily="34" charset="0"/>
                <a:ea typeface="Calibri" pitchFamily="34" charset="-122"/>
                <a:cs typeface="Calibri" pitchFamily="34" charset="-120"/>
              </a:rPr>
              <a:t>Grew to just over 1,000 visits on word-of-mouth alone, then plateaued — reaccelerating that curve through paid partnerships is exactly what this raise funds.</a:t>
            </a:r>
            <a:endParaRPr lang="en-US" sz="1250" dirty="0"/>
          </a:p>
        </p:txBody>
      </p:sp>
      <p:sp>
        <p:nvSpPr>
          <p:cNvPr id="8" name="Shape 5"/>
          <p:cNvSpPr/>
          <p:nvPr/>
        </p:nvSpPr>
        <p:spPr>
          <a:xfrm>
            <a:off x="548640" y="2880360"/>
            <a:ext cx="594360" cy="594360"/>
          </a:xfrm>
          <a:prstGeom prst="ellipse">
            <a:avLst/>
          </a:prstGeom>
          <a:solidFill>
            <a:srgbClr val="00A896"/>
          </a:solidFill>
          <a:ln/>
        </p:spPr>
      </p:sp>
      <p:pic>
        <p:nvPicPr>
          <p:cNvPr id="9" name="Image 1" descr="preencoded.png">    </p:cNvPr>
          <p:cNvPicPr>
            <a:picLocks noChangeAspect="1"/>
          </p:cNvPicPr>
          <p:nvPr/>
        </p:nvPicPr>
        <p:blipFill>
          <a:blip r:embed="rId2"/>
          <a:stretch>
            <a:fillRect/>
          </a:stretch>
        </p:blipFill>
        <p:spPr>
          <a:xfrm>
            <a:off x="625907" y="2957627"/>
            <a:ext cx="439826" cy="439826"/>
          </a:xfrm>
          <a:prstGeom prst="rect">
            <a:avLst/>
          </a:prstGeom>
        </p:spPr>
      </p:pic>
      <p:sp>
        <p:nvSpPr>
          <p:cNvPr id="10" name="Text 6"/>
          <p:cNvSpPr txBox="1"/>
          <p:nvPr/>
        </p:nvSpPr>
        <p:spPr>
          <a:xfrm>
            <a:off x="1371600" y="2880360"/>
            <a:ext cx="493776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Built from real field feedback</a:t>
            </a:r>
            <a:endParaRPr lang="en-US" sz="1500" dirty="0"/>
          </a:p>
        </p:txBody>
      </p:sp>
      <p:sp>
        <p:nvSpPr>
          <p:cNvPr id="11" name="Text 7"/>
          <p:cNvSpPr txBox="1"/>
          <p:nvPr/>
        </p:nvSpPr>
        <p:spPr>
          <a:xfrm>
            <a:off x="1371600" y="3227832"/>
            <a:ext cx="4937760" cy="64008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South Africa support and a passport-expiry fix both shipped directly from applicants' real reports.</a:t>
            </a:r>
            <a:endParaRPr lang="en-US" sz="1250" dirty="0"/>
          </a:p>
        </p:txBody>
      </p:sp>
      <p:sp>
        <p:nvSpPr>
          <p:cNvPr id="12" name="Shape 8"/>
          <p:cNvSpPr/>
          <p:nvPr/>
        </p:nvSpPr>
        <p:spPr>
          <a:xfrm>
            <a:off x="548640" y="4023360"/>
            <a:ext cx="594360" cy="594360"/>
          </a:xfrm>
          <a:prstGeom prst="ellipse">
            <a:avLst/>
          </a:prstGeom>
          <a:solidFill>
            <a:srgbClr val="02C39A"/>
          </a:solidFill>
          <a:ln/>
        </p:spPr>
      </p:sp>
      <p:pic>
        <p:nvPicPr>
          <p:cNvPr id="13" name="Image 2" descr="preencoded.png">    </p:cNvPr>
          <p:cNvPicPr>
            <a:picLocks noChangeAspect="1"/>
          </p:cNvPicPr>
          <p:nvPr/>
        </p:nvPicPr>
        <p:blipFill>
          <a:blip r:embed="rId3"/>
          <a:stretch>
            <a:fillRect/>
          </a:stretch>
        </p:blipFill>
        <p:spPr>
          <a:xfrm>
            <a:off x="625907" y="4100627"/>
            <a:ext cx="439826" cy="439826"/>
          </a:xfrm>
          <a:prstGeom prst="rect">
            <a:avLst/>
          </a:prstGeom>
        </p:spPr>
      </p:pic>
      <p:sp>
        <p:nvSpPr>
          <p:cNvPr id="14" name="Text 9"/>
          <p:cNvSpPr txBox="1"/>
          <p:nvPr/>
        </p:nvSpPr>
        <p:spPr>
          <a:xfrm>
            <a:off x="1371600" y="4023360"/>
            <a:ext cx="4937760" cy="365760"/>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Engineering discipline from day one</a:t>
            </a:r>
            <a:endParaRPr lang="en-US" sz="1500" dirty="0"/>
          </a:p>
        </p:txBody>
      </p:sp>
      <p:sp>
        <p:nvSpPr>
          <p:cNvPr id="15" name="Text 10"/>
          <p:cNvSpPr txBox="1"/>
          <p:nvPr/>
        </p:nvSpPr>
        <p:spPr>
          <a:xfrm>
            <a:off x="1371600" y="4370832"/>
            <a:ext cx="4937760" cy="640080"/>
          </a:xfrm>
          <a:prstGeom prst="rect">
            <a:avLst/>
          </a:prstGeom>
          <a:noFill/>
          <a:ln/>
        </p:spPr>
        <p:txBody>
          <a:bodyPr wrap="square" lIns="0" tIns="0" rIns="0" bIns="0" rtlCol="0" anchor="ctr"/>
          <a:lstStyle/>
          <a:p>
            <a:pPr indent="0" marL="0">
              <a:buNone/>
            </a:pPr>
            <a:r>
              <a:rPr lang="en-US" sz="1250" dirty="0">
                <a:solidFill>
                  <a:srgbClr val="27403F"/>
                </a:solidFill>
                <a:latin typeface="Calibri" pitchFamily="34" charset="0"/>
                <a:ea typeface="Calibri" pitchFamily="34" charset="-122"/>
                <a:cs typeface="Calibri" pitchFamily="34" charset="-120"/>
              </a:rPr>
              <a:t>A full automated test suite guards every release before it ships — not a prototype held together by hand.</a:t>
            </a:r>
            <a:endParaRPr lang="en-US" sz="1250" dirty="0"/>
          </a:p>
        </p:txBody>
      </p:sp>
      <p:sp>
        <p:nvSpPr>
          <p:cNvPr id="16" name="Shape 11"/>
          <p:cNvSpPr/>
          <p:nvPr/>
        </p:nvSpPr>
        <p:spPr>
          <a:xfrm>
            <a:off x="6720840" y="1691640"/>
            <a:ext cx="4892040" cy="3977640"/>
          </a:xfrm>
          <a:prstGeom prst="roundRect">
            <a:avLst>
              <a:gd name="adj" fmla="val 1839"/>
            </a:avLst>
          </a:prstGeom>
          <a:solidFill>
            <a:srgbClr val="0B2027"/>
          </a:solidFill>
          <a:ln/>
        </p:spPr>
      </p:sp>
      <p:sp>
        <p:nvSpPr>
          <p:cNvPr id="17" name="Text 12"/>
          <p:cNvSpPr txBox="1"/>
          <p:nvPr/>
        </p:nvSpPr>
        <p:spPr>
          <a:xfrm>
            <a:off x="7086600" y="2011680"/>
            <a:ext cx="4206240" cy="64008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“She is still having issues.”</a:t>
            </a:r>
            <a:endParaRPr lang="en-US" sz="2000" dirty="0"/>
          </a:p>
        </p:txBody>
      </p:sp>
      <p:sp>
        <p:nvSpPr>
          <p:cNvPr id="18" name="Text 13"/>
          <p:cNvSpPr txBox="1"/>
          <p:nvPr/>
        </p:nvSpPr>
        <p:spPr>
          <a:xfrm>
            <a:off x="7086600" y="2788920"/>
            <a:ext cx="4206240" cy="164592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A real bug report, from a real applicant's passport scan — acted on and shipped within days. This is the loop the product runs on: an applicant hits a wall, we find out, we fix it, everyone after her benefits.</a:t>
            </a:r>
            <a:endParaRPr lang="en-US" sz="1300" dirty="0"/>
          </a:p>
        </p:txBody>
      </p:sp>
      <p:sp>
        <p:nvSpPr>
          <p:cNvPr id="19" name="Text 14"/>
          <p:cNvSpPr txBox="1"/>
          <p:nvPr/>
        </p:nvSpPr>
        <p:spPr>
          <a:xfrm>
            <a:off x="7086600" y="5074920"/>
            <a:ext cx="4206240" cy="457200"/>
          </a:xfrm>
          <a:prstGeom prst="rect">
            <a:avLst/>
          </a:prstGeom>
          <a:noFill/>
          <a:ln/>
        </p:spPr>
        <p:txBody>
          <a:bodyPr wrap="square" lIns="0" tIns="0" rIns="0" bIns="0" rtlCol="0" anchor="ctr"/>
          <a:lstStyle/>
          <a:p>
            <a:pPr indent="0" marL="0">
              <a:buNone/>
            </a:pPr>
            <a:r>
              <a:rPr lang="en-US" sz="1050" dirty="0">
                <a:solidFill>
                  <a:srgbClr val="6B8A87"/>
                </a:solidFill>
                <a:latin typeface="Calibri" pitchFamily="34" charset="0"/>
                <a:ea typeface="Calibri" pitchFamily="34" charset="-122"/>
                <a:cs typeface="Calibri" pitchFamily="34" charset="-120"/>
              </a:rPr>
              <a:t>— direct WhatsApp support channel, live in the product</a:t>
            </a:r>
            <a:endParaRPr lang="en-US" sz="1050" dirty="0"/>
          </a:p>
        </p:txBody>
      </p:sp>
      <p:sp>
        <p:nvSpPr>
          <p:cNvPr id="20" name="Text 15"/>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1" name="Text 1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BUSINESS MODEL</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Applicants never pay — that's the moat</a:t>
            </a:r>
            <a:endParaRPr lang="en-US" sz="3200" dirty="0"/>
          </a:p>
        </p:txBody>
      </p:sp>
      <p:sp>
        <p:nvSpPr>
          <p:cNvPr id="4" name="Shape 2"/>
          <p:cNvSpPr/>
          <p:nvPr/>
        </p:nvSpPr>
        <p:spPr>
          <a:xfrm>
            <a:off x="548640" y="1691640"/>
            <a:ext cx="3520440" cy="4114800"/>
          </a:xfrm>
          <a:prstGeom prst="roundRect">
            <a:avLst>
              <a:gd name="adj" fmla="val 2078"/>
            </a:avLst>
          </a:prstGeom>
          <a:solidFill>
            <a:srgbClr val="EAF6F5"/>
          </a:solidFill>
          <a:ln/>
        </p:spPr>
      </p:sp>
      <p:sp>
        <p:nvSpPr>
          <p:cNvPr id="5" name="Shape 3"/>
          <p:cNvSpPr/>
          <p:nvPr/>
        </p:nvSpPr>
        <p:spPr>
          <a:xfrm>
            <a:off x="822960" y="1965960"/>
            <a:ext cx="566928" cy="566928"/>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896661" y="2039661"/>
            <a:ext cx="419527" cy="419527"/>
          </a:xfrm>
          <a:prstGeom prst="rect">
            <a:avLst/>
          </a:prstGeom>
        </p:spPr>
      </p:pic>
      <p:sp>
        <p:nvSpPr>
          <p:cNvPr id="7" name="Text 4"/>
          <p:cNvSpPr txBox="1"/>
          <p:nvPr/>
        </p:nvSpPr>
        <p:spPr>
          <a:xfrm>
            <a:off x="822960" y="2697480"/>
            <a:ext cx="2971800" cy="41148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B2B licensing</a:t>
            </a:r>
            <a:endParaRPr lang="en-US" sz="1600" dirty="0"/>
          </a:p>
        </p:txBody>
      </p:sp>
      <p:sp>
        <p:nvSpPr>
          <p:cNvPr id="8" name="Text 5"/>
          <p:cNvSpPr txBox="1"/>
          <p:nvPr/>
        </p:nvSpPr>
        <p:spPr>
          <a:xfrm>
            <a:off x="822960" y="3127248"/>
            <a:ext cx="2971800" cy="1737360"/>
          </a:xfrm>
          <a:prstGeom prst="rect">
            <a:avLst/>
          </a:prstGeom>
          <a:noFill/>
          <a:ln/>
        </p:spPr>
        <p:txBody>
          <a:bodyPr wrap="square" lIns="0" tIns="0" rIns="0" bIns="0" rtlCol="0" anchor="ctr"/>
          <a:lstStyle/>
          <a:p>
            <a:pPr indent="0" marL="0">
              <a:lnSpc>
                <a:spcPct val="125000"/>
              </a:lnSpc>
              <a:buNone/>
            </a:pPr>
            <a:r>
              <a:rPr lang="en-US" sz="1200" dirty="0">
                <a:solidFill>
                  <a:srgbClr val="27403F"/>
                </a:solidFill>
                <a:latin typeface="Calibri" pitchFamily="34" charset="0"/>
                <a:ea typeface="Calibri" pitchFamily="34" charset="-122"/>
                <a:cs typeface="Calibri" pitchFamily="34" charset="-120"/>
              </a:rPr>
              <a:t>Subscription seats sold to travel agencies and licensed immigration consultancies who use Smooth Application as their own client-intake tool.</a:t>
            </a:r>
            <a:endParaRPr lang="en-US" sz="1200" dirty="0"/>
          </a:p>
        </p:txBody>
      </p:sp>
      <p:sp>
        <p:nvSpPr>
          <p:cNvPr id="9" name="Text 6"/>
          <p:cNvSpPr txBox="1"/>
          <p:nvPr/>
        </p:nvSpPr>
        <p:spPr>
          <a:xfrm>
            <a:off x="822960" y="5349240"/>
            <a:ext cx="2971800" cy="320040"/>
          </a:xfrm>
          <a:prstGeom prst="rect">
            <a:avLst/>
          </a:prstGeom>
          <a:noFill/>
          <a:ln/>
        </p:spPr>
        <p:txBody>
          <a:bodyPr wrap="square" lIns="0" tIns="0" rIns="0" bIns="0" rtlCol="0" anchor="ctr"/>
          <a:lstStyle/>
          <a:p>
            <a:pPr indent="0" marL="0">
              <a:buNone/>
            </a:pPr>
            <a:r>
              <a:rPr lang="en-US" sz="1050" b="1" spc="100" kern="0" dirty="0">
                <a:solidFill>
                  <a:srgbClr val="00A896"/>
                </a:solidFill>
                <a:latin typeface="Calibri" pitchFamily="34" charset="0"/>
                <a:ea typeface="Calibri" pitchFamily="34" charset="-122"/>
                <a:cs typeface="Calibri" pitchFamily="34" charset="-120"/>
              </a:rPr>
              <a:t>PRIMARY — RECURRING</a:t>
            </a:r>
            <a:endParaRPr lang="en-US" sz="1050" dirty="0"/>
          </a:p>
        </p:txBody>
      </p:sp>
      <p:sp>
        <p:nvSpPr>
          <p:cNvPr id="10" name="Shape 7"/>
          <p:cNvSpPr/>
          <p:nvPr/>
        </p:nvSpPr>
        <p:spPr>
          <a:xfrm>
            <a:off x="4389120" y="1691640"/>
            <a:ext cx="3520440" cy="4114800"/>
          </a:xfrm>
          <a:prstGeom prst="roundRect">
            <a:avLst>
              <a:gd name="adj" fmla="val 2078"/>
            </a:avLst>
          </a:prstGeom>
          <a:solidFill>
            <a:srgbClr val="EAF6F5"/>
          </a:solidFill>
          <a:ln/>
        </p:spPr>
      </p:sp>
      <p:sp>
        <p:nvSpPr>
          <p:cNvPr id="11" name="Shape 8"/>
          <p:cNvSpPr/>
          <p:nvPr/>
        </p:nvSpPr>
        <p:spPr>
          <a:xfrm>
            <a:off x="4663440" y="1965960"/>
            <a:ext cx="566928" cy="566928"/>
          </a:xfrm>
          <a:prstGeom prst="ellipse">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4737141" y="2039661"/>
            <a:ext cx="419527" cy="419527"/>
          </a:xfrm>
          <a:prstGeom prst="rect">
            <a:avLst/>
          </a:prstGeom>
        </p:spPr>
      </p:pic>
      <p:sp>
        <p:nvSpPr>
          <p:cNvPr id="13" name="Text 9"/>
          <p:cNvSpPr txBox="1"/>
          <p:nvPr/>
        </p:nvSpPr>
        <p:spPr>
          <a:xfrm>
            <a:off x="4663440" y="2697480"/>
            <a:ext cx="2971800" cy="41148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Verified referral fees</a:t>
            </a:r>
            <a:endParaRPr lang="en-US" sz="1600" dirty="0"/>
          </a:p>
        </p:txBody>
      </p:sp>
      <p:sp>
        <p:nvSpPr>
          <p:cNvPr id="14" name="Text 10"/>
          <p:cNvSpPr txBox="1"/>
          <p:nvPr/>
        </p:nvSpPr>
        <p:spPr>
          <a:xfrm>
            <a:off x="4663440" y="3127248"/>
            <a:ext cx="2971800" cy="1737360"/>
          </a:xfrm>
          <a:prstGeom prst="rect">
            <a:avLst/>
          </a:prstGeom>
          <a:noFill/>
          <a:ln/>
        </p:spPr>
        <p:txBody>
          <a:bodyPr wrap="square" lIns="0" tIns="0" rIns="0" bIns="0" rtlCol="0" anchor="ctr"/>
          <a:lstStyle/>
          <a:p>
            <a:pPr indent="0" marL="0">
              <a:lnSpc>
                <a:spcPct val="125000"/>
              </a:lnSpc>
              <a:buNone/>
            </a:pPr>
            <a:r>
              <a:rPr lang="en-US" sz="1200" dirty="0">
                <a:solidFill>
                  <a:srgbClr val="27403F"/>
                </a:solidFill>
                <a:latin typeface="Calibri" pitchFamily="34" charset="0"/>
                <a:ea typeface="Calibri" pitchFamily="34" charset="-122"/>
                <a:cs typeface="Calibri" pitchFamily="34" charset="-120"/>
              </a:rPr>
              <a:t>A flat, paid-per-lead fee when we connect an applicant to an OISC- or CICC-verified licensed adviser — paid at introduction, not shared on an ongoing basis.</a:t>
            </a:r>
            <a:endParaRPr lang="en-US" sz="1200" dirty="0"/>
          </a:p>
        </p:txBody>
      </p:sp>
      <p:sp>
        <p:nvSpPr>
          <p:cNvPr id="15" name="Text 11"/>
          <p:cNvSpPr txBox="1"/>
          <p:nvPr/>
        </p:nvSpPr>
        <p:spPr>
          <a:xfrm>
            <a:off x="4663440" y="5349240"/>
            <a:ext cx="2971800" cy="320040"/>
          </a:xfrm>
          <a:prstGeom prst="rect">
            <a:avLst/>
          </a:prstGeom>
          <a:noFill/>
          <a:ln/>
        </p:spPr>
        <p:txBody>
          <a:bodyPr wrap="square" lIns="0" tIns="0" rIns="0" bIns="0" rtlCol="0" anchor="ctr"/>
          <a:lstStyle/>
          <a:p>
            <a:pPr indent="0" marL="0">
              <a:buNone/>
            </a:pPr>
            <a:r>
              <a:rPr lang="en-US" sz="1050" b="1" spc="100" kern="0" dirty="0">
                <a:solidFill>
                  <a:srgbClr val="00A896"/>
                </a:solidFill>
                <a:latin typeface="Calibri" pitchFamily="34" charset="0"/>
                <a:ea typeface="Calibri" pitchFamily="34" charset="-122"/>
                <a:cs typeface="Calibri" pitchFamily="34" charset="-120"/>
              </a:rPr>
              <a:t>SECONDARY — ONE-TIME</a:t>
            </a:r>
            <a:endParaRPr lang="en-US" sz="1050" dirty="0"/>
          </a:p>
        </p:txBody>
      </p:sp>
      <p:sp>
        <p:nvSpPr>
          <p:cNvPr id="16" name="Shape 12"/>
          <p:cNvSpPr/>
          <p:nvPr/>
        </p:nvSpPr>
        <p:spPr>
          <a:xfrm>
            <a:off x="8229600" y="1691640"/>
            <a:ext cx="3520440" cy="4114800"/>
          </a:xfrm>
          <a:prstGeom prst="roundRect">
            <a:avLst>
              <a:gd name="adj" fmla="val 2078"/>
            </a:avLst>
          </a:prstGeom>
          <a:solidFill>
            <a:srgbClr val="EAF6F5"/>
          </a:solidFill>
          <a:ln/>
        </p:spPr>
      </p:sp>
      <p:sp>
        <p:nvSpPr>
          <p:cNvPr id="17" name="Shape 13"/>
          <p:cNvSpPr/>
          <p:nvPr/>
        </p:nvSpPr>
        <p:spPr>
          <a:xfrm>
            <a:off x="8503920" y="1965960"/>
            <a:ext cx="566928" cy="566928"/>
          </a:xfrm>
          <a:prstGeom prst="ellipse">
            <a:avLst/>
          </a:prstGeom>
          <a:solidFill>
            <a:srgbClr val="028090"/>
          </a:solidFill>
          <a:ln/>
        </p:spPr>
      </p:sp>
      <p:pic>
        <p:nvPicPr>
          <p:cNvPr id="18" name="Image 2" descr="preencoded.png">    </p:cNvPr>
          <p:cNvPicPr>
            <a:picLocks noChangeAspect="1"/>
          </p:cNvPicPr>
          <p:nvPr/>
        </p:nvPicPr>
        <p:blipFill>
          <a:blip r:embed="rId3"/>
          <a:stretch>
            <a:fillRect/>
          </a:stretch>
        </p:blipFill>
        <p:spPr>
          <a:xfrm>
            <a:off x="8577621" y="2039661"/>
            <a:ext cx="419527" cy="419527"/>
          </a:xfrm>
          <a:prstGeom prst="rect">
            <a:avLst/>
          </a:prstGeom>
        </p:spPr>
      </p:pic>
      <p:sp>
        <p:nvSpPr>
          <p:cNvPr id="19" name="Text 14"/>
          <p:cNvSpPr txBox="1"/>
          <p:nvPr/>
        </p:nvSpPr>
        <p:spPr>
          <a:xfrm>
            <a:off x="8503920" y="2697480"/>
            <a:ext cx="2971800" cy="41148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Travel-adjacent commerce</a:t>
            </a:r>
            <a:endParaRPr lang="en-US" sz="1600" dirty="0"/>
          </a:p>
        </p:txBody>
      </p:sp>
      <p:sp>
        <p:nvSpPr>
          <p:cNvPr id="20" name="Text 15"/>
          <p:cNvSpPr txBox="1"/>
          <p:nvPr/>
        </p:nvSpPr>
        <p:spPr>
          <a:xfrm>
            <a:off x="8503920" y="3127248"/>
            <a:ext cx="2971800" cy="1737360"/>
          </a:xfrm>
          <a:prstGeom prst="rect">
            <a:avLst/>
          </a:prstGeom>
          <a:noFill/>
          <a:ln/>
        </p:spPr>
        <p:txBody>
          <a:bodyPr wrap="square" lIns="0" tIns="0" rIns="0" bIns="0" rtlCol="0" anchor="ctr"/>
          <a:lstStyle/>
          <a:p>
            <a:pPr indent="0" marL="0">
              <a:lnSpc>
                <a:spcPct val="125000"/>
              </a:lnSpc>
              <a:buNone/>
            </a:pPr>
            <a:r>
              <a:rPr lang="en-US" sz="1200" dirty="0">
                <a:solidFill>
                  <a:srgbClr val="27403F"/>
                </a:solidFill>
                <a:latin typeface="Calibri" pitchFamily="34" charset="0"/>
                <a:ea typeface="Calibri" pitchFamily="34" charset="-122"/>
                <a:cs typeface="Calibri" pitchFamily="34" charset="-120"/>
              </a:rPr>
              <a:t>Affiliate commission on travel insurance, flights and remittance — things applicants are already buying for their application.</a:t>
            </a:r>
            <a:endParaRPr lang="en-US" sz="1200" dirty="0"/>
          </a:p>
        </p:txBody>
      </p:sp>
      <p:sp>
        <p:nvSpPr>
          <p:cNvPr id="21" name="Text 16"/>
          <p:cNvSpPr txBox="1"/>
          <p:nvPr/>
        </p:nvSpPr>
        <p:spPr>
          <a:xfrm>
            <a:off x="8503920" y="5349240"/>
            <a:ext cx="2971800" cy="320040"/>
          </a:xfrm>
          <a:prstGeom prst="rect">
            <a:avLst/>
          </a:prstGeom>
          <a:noFill/>
          <a:ln/>
        </p:spPr>
        <p:txBody>
          <a:bodyPr wrap="square" lIns="0" tIns="0" rIns="0" bIns="0" rtlCol="0" anchor="ctr"/>
          <a:lstStyle/>
          <a:p>
            <a:pPr indent="0" marL="0">
              <a:buNone/>
            </a:pPr>
            <a:r>
              <a:rPr lang="en-US" sz="1050" b="1" spc="100" kern="0" dirty="0">
                <a:solidFill>
                  <a:srgbClr val="00A896"/>
                </a:solidFill>
                <a:latin typeface="Calibri" pitchFamily="34" charset="0"/>
                <a:ea typeface="Calibri" pitchFamily="34" charset="-122"/>
                <a:cs typeface="Calibri" pitchFamily="34" charset="-120"/>
              </a:rPr>
              <a:t>SUPPLEMENTARY</a:t>
            </a:r>
            <a:endParaRPr lang="en-US" sz="1050" dirty="0"/>
          </a:p>
        </p:txBody>
      </p:sp>
      <p:sp>
        <p:nvSpPr>
          <p:cNvPr id="22" name="Text 17"/>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3" name="Text 1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GO-TO-MARKET</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Distribution through the industry, not against it</a:t>
            </a:r>
            <a:endParaRPr lang="en-US" sz="3200" dirty="0"/>
          </a:p>
        </p:txBody>
      </p:sp>
      <p:sp>
        <p:nvSpPr>
          <p:cNvPr id="4" name="Shape 2"/>
          <p:cNvSpPr/>
          <p:nvPr/>
        </p:nvSpPr>
        <p:spPr>
          <a:xfrm>
            <a:off x="548640" y="1737360"/>
            <a:ext cx="594360" cy="594360"/>
          </a:xfrm>
          <a:prstGeom prst="ellipse">
            <a:avLst/>
          </a:prstGeom>
          <a:solidFill>
            <a:srgbClr val="02C39A"/>
          </a:solidFill>
          <a:ln/>
        </p:spPr>
      </p:sp>
      <p:pic>
        <p:nvPicPr>
          <p:cNvPr id="5" name="Image 0" descr="preencoded.png">    </p:cNvPr>
          <p:cNvPicPr>
            <a:picLocks noChangeAspect="1"/>
          </p:cNvPicPr>
          <p:nvPr/>
        </p:nvPicPr>
        <p:blipFill>
          <a:blip r:embed="rId1"/>
          <a:stretch>
            <a:fillRect/>
          </a:stretch>
        </p:blipFill>
        <p:spPr>
          <a:xfrm>
            <a:off x="625907" y="1814627"/>
            <a:ext cx="439826" cy="439826"/>
          </a:xfrm>
          <a:prstGeom prst="rect">
            <a:avLst/>
          </a:prstGeom>
        </p:spPr>
      </p:pic>
      <p:sp>
        <p:nvSpPr>
          <p:cNvPr id="6" name="Text 3"/>
          <p:cNvSpPr txBox="1"/>
          <p:nvPr/>
        </p:nvSpPr>
        <p:spPr>
          <a:xfrm>
            <a:off x="1417320" y="1719072"/>
            <a:ext cx="9784080" cy="36576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NANTA-registered travel agencies</a:t>
            </a:r>
            <a:endParaRPr lang="en-US" sz="1600" dirty="0"/>
          </a:p>
        </p:txBody>
      </p:sp>
      <p:sp>
        <p:nvSpPr>
          <p:cNvPr id="7" name="Text 4"/>
          <p:cNvSpPr txBox="1"/>
          <p:nvPr/>
        </p:nvSpPr>
        <p:spPr>
          <a:xfrm>
            <a:off x="1417320" y="2103120"/>
            <a:ext cx="978408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4,000+ member agencies nationwide — the direct channel for B2B licensing outreach.</a:t>
            </a:r>
            <a:endParaRPr lang="en-US" sz="1300" dirty="0"/>
          </a:p>
        </p:txBody>
      </p:sp>
      <p:sp>
        <p:nvSpPr>
          <p:cNvPr id="8" name="Shape 5"/>
          <p:cNvSpPr/>
          <p:nvPr/>
        </p:nvSpPr>
        <p:spPr>
          <a:xfrm>
            <a:off x="548640" y="2971800"/>
            <a:ext cx="594360" cy="594360"/>
          </a:xfrm>
          <a:prstGeom prst="ellipse">
            <a:avLst/>
          </a:prstGeom>
          <a:solidFill>
            <a:srgbClr val="02C39A"/>
          </a:solidFill>
          <a:ln/>
        </p:spPr>
      </p:sp>
      <p:pic>
        <p:nvPicPr>
          <p:cNvPr id="9" name="Image 1" descr="preencoded.png">    </p:cNvPr>
          <p:cNvPicPr>
            <a:picLocks noChangeAspect="1"/>
          </p:cNvPicPr>
          <p:nvPr/>
        </p:nvPicPr>
        <p:blipFill>
          <a:blip r:embed="rId2"/>
          <a:stretch>
            <a:fillRect/>
          </a:stretch>
        </p:blipFill>
        <p:spPr>
          <a:xfrm>
            <a:off x="625907" y="3049067"/>
            <a:ext cx="439826" cy="439826"/>
          </a:xfrm>
          <a:prstGeom prst="rect">
            <a:avLst/>
          </a:prstGeom>
        </p:spPr>
      </p:pic>
      <p:sp>
        <p:nvSpPr>
          <p:cNvPr id="10" name="Text 6"/>
          <p:cNvSpPr txBox="1"/>
          <p:nvPr/>
        </p:nvSpPr>
        <p:spPr>
          <a:xfrm>
            <a:off x="1417320" y="2953512"/>
            <a:ext cx="9784080" cy="36576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Official licensing registers only</a:t>
            </a:r>
            <a:endParaRPr lang="en-US" sz="1600" dirty="0"/>
          </a:p>
        </p:txBody>
      </p:sp>
      <p:sp>
        <p:nvSpPr>
          <p:cNvPr id="11" name="Text 7"/>
          <p:cNvSpPr txBox="1"/>
          <p:nvPr/>
        </p:nvSpPr>
        <p:spPr>
          <a:xfrm>
            <a:off x="1417320" y="3337560"/>
            <a:ext cx="978408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OISC (UK) and CICC (Canada) public registers, so every referral partner is independently verifiable, never an informal “agent.”</a:t>
            </a:r>
            <a:endParaRPr lang="en-US" sz="1300" dirty="0"/>
          </a:p>
        </p:txBody>
      </p:sp>
      <p:sp>
        <p:nvSpPr>
          <p:cNvPr id="12" name="Shape 8"/>
          <p:cNvSpPr/>
          <p:nvPr/>
        </p:nvSpPr>
        <p:spPr>
          <a:xfrm>
            <a:off x="548640" y="4206240"/>
            <a:ext cx="594360" cy="594360"/>
          </a:xfrm>
          <a:prstGeom prst="ellipse">
            <a:avLst/>
          </a:prstGeom>
          <a:solidFill>
            <a:srgbClr val="02C39A"/>
          </a:solidFill>
          <a:ln/>
        </p:spPr>
      </p:sp>
      <p:pic>
        <p:nvPicPr>
          <p:cNvPr id="13" name="Image 2" descr="preencoded.png">    </p:cNvPr>
          <p:cNvPicPr>
            <a:picLocks noChangeAspect="1"/>
          </p:cNvPicPr>
          <p:nvPr/>
        </p:nvPicPr>
        <p:blipFill>
          <a:blip r:embed="rId3"/>
          <a:stretch>
            <a:fillRect/>
          </a:stretch>
        </p:blipFill>
        <p:spPr>
          <a:xfrm>
            <a:off x="625907" y="4283507"/>
            <a:ext cx="439826" cy="439826"/>
          </a:xfrm>
          <a:prstGeom prst="rect">
            <a:avLst/>
          </a:prstGeom>
        </p:spPr>
      </p:pic>
      <p:sp>
        <p:nvSpPr>
          <p:cNvPr id="14" name="Text 9"/>
          <p:cNvSpPr txBox="1"/>
          <p:nvPr/>
        </p:nvSpPr>
        <p:spPr>
          <a:xfrm>
            <a:off x="1417320" y="4187952"/>
            <a:ext cx="9784080" cy="36576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Organic, WhatsApp-led growth</a:t>
            </a:r>
            <a:endParaRPr lang="en-US" sz="1600" dirty="0"/>
          </a:p>
        </p:txBody>
      </p:sp>
      <p:sp>
        <p:nvSpPr>
          <p:cNvPr id="15" name="Text 10"/>
          <p:cNvSpPr txBox="1"/>
          <p:nvPr/>
        </p:nvSpPr>
        <p:spPr>
          <a:xfrm>
            <a:off x="1417320" y="4572000"/>
            <a:ext cx="978408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Word of mouth is already driving real usage today — the product's WhatsApp support line is the same channel applicants already trust.</a:t>
            </a:r>
            <a:endParaRPr lang="en-US" sz="1300" dirty="0"/>
          </a:p>
        </p:txBody>
      </p:sp>
      <p:sp>
        <p:nvSpPr>
          <p:cNvPr id="16" name="Text 11"/>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17" name="Text 12"/>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WHY WE WIN</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Compliant by design — not racing to the line others cross</a:t>
            </a:r>
            <a:endParaRPr lang="en-US" sz="3200" dirty="0"/>
          </a:p>
        </p:txBody>
      </p:sp>
      <p:sp>
        <p:nvSpPr>
          <p:cNvPr id="4" name="Shape 2"/>
          <p:cNvSpPr/>
          <p:nvPr/>
        </p:nvSpPr>
        <p:spPr>
          <a:xfrm>
            <a:off x="548640" y="1691640"/>
            <a:ext cx="5303520" cy="4114800"/>
          </a:xfrm>
          <a:prstGeom prst="roundRect">
            <a:avLst>
              <a:gd name="adj" fmla="val 1778"/>
            </a:avLst>
          </a:prstGeom>
          <a:solidFill>
            <a:srgbClr val="EAF6F5"/>
          </a:solidFill>
          <a:ln/>
        </p:spPr>
      </p:sp>
      <p:sp>
        <p:nvSpPr>
          <p:cNvPr id="5" name="Shape 3"/>
          <p:cNvSpPr/>
          <p:nvPr/>
        </p:nvSpPr>
        <p:spPr>
          <a:xfrm>
            <a:off x="868680" y="1965960"/>
            <a:ext cx="502920" cy="502920"/>
          </a:xfrm>
          <a:prstGeom prst="ellipse">
            <a:avLst/>
          </a:prstGeom>
          <a:solidFill>
            <a:srgbClr val="B3541E"/>
          </a:solidFill>
          <a:ln/>
        </p:spPr>
      </p:sp>
      <p:pic>
        <p:nvPicPr>
          <p:cNvPr id="6" name="Image 0" descr="preencoded.png">    </p:cNvPr>
          <p:cNvPicPr>
            <a:picLocks noChangeAspect="1"/>
          </p:cNvPicPr>
          <p:nvPr/>
        </p:nvPicPr>
        <p:blipFill>
          <a:blip r:embed="rId1"/>
          <a:stretch>
            <a:fillRect/>
          </a:stretch>
        </p:blipFill>
        <p:spPr>
          <a:xfrm>
            <a:off x="934060" y="2031340"/>
            <a:ext cx="372161" cy="372161"/>
          </a:xfrm>
          <a:prstGeom prst="rect">
            <a:avLst/>
          </a:prstGeom>
        </p:spPr>
      </p:pic>
      <p:sp>
        <p:nvSpPr>
          <p:cNvPr id="7" name="Text 4"/>
          <p:cNvSpPr txBox="1"/>
          <p:nvPr/>
        </p:nvSpPr>
        <p:spPr>
          <a:xfrm>
            <a:off x="1508760" y="2029968"/>
            <a:ext cx="4114800" cy="365760"/>
          </a:xfrm>
          <a:prstGeom prst="rect">
            <a:avLst/>
          </a:prstGeom>
          <a:noFill/>
          <a:ln/>
        </p:spPr>
        <p:txBody>
          <a:bodyPr wrap="square" lIns="0" tIns="0" rIns="0" bIns="0" rtlCol="0" anchor="ctr"/>
          <a:lstStyle/>
          <a:p>
            <a:pPr indent="0" marL="0">
              <a:buNone/>
            </a:pPr>
            <a:r>
              <a:rPr lang="en-US" sz="1600" b="1" dirty="0">
                <a:solidFill>
                  <a:srgbClr val="0B2027"/>
                </a:solidFill>
                <a:latin typeface="Calibri" pitchFamily="34" charset="0"/>
                <a:ea typeface="Calibri" pitchFamily="34" charset="-122"/>
                <a:cs typeface="Calibri" pitchFamily="34" charset="-120"/>
              </a:rPr>
              <a:t>Informal “agents”</a:t>
            </a:r>
            <a:endParaRPr lang="en-US" sz="1600" dirty="0"/>
          </a:p>
        </p:txBody>
      </p:sp>
      <p:sp>
        <p:nvSpPr>
          <p:cNvPr id="8" name="Text 5"/>
          <p:cNvSpPr txBox="1"/>
          <p:nvPr/>
        </p:nvSpPr>
        <p:spPr>
          <a:xfrm>
            <a:off x="868680" y="2606040"/>
            <a:ext cx="470916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Unregistered, unverifiable</a:t>
            </a:r>
            <a:endParaRPr lang="en-US" sz="1300" dirty="0"/>
          </a:p>
        </p:txBody>
      </p:sp>
      <p:sp>
        <p:nvSpPr>
          <p:cNvPr id="9" name="Text 6"/>
          <p:cNvSpPr txBox="1"/>
          <p:nvPr/>
        </p:nvSpPr>
        <p:spPr>
          <a:xfrm>
            <a:off x="868680" y="3227832"/>
            <a:ext cx="470916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Give case-specific advice with no license</a:t>
            </a:r>
            <a:endParaRPr lang="en-US" sz="1300" dirty="0"/>
          </a:p>
        </p:txBody>
      </p:sp>
      <p:sp>
        <p:nvSpPr>
          <p:cNvPr id="10" name="Text 7"/>
          <p:cNvSpPr txBox="1"/>
          <p:nvPr/>
        </p:nvSpPr>
        <p:spPr>
          <a:xfrm>
            <a:off x="868680" y="3849624"/>
            <a:ext cx="470916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Real legal exposure — for them and their clients</a:t>
            </a:r>
            <a:endParaRPr lang="en-US" sz="1300" dirty="0"/>
          </a:p>
        </p:txBody>
      </p:sp>
      <p:sp>
        <p:nvSpPr>
          <p:cNvPr id="11" name="Text 8"/>
          <p:cNvSpPr txBox="1"/>
          <p:nvPr/>
        </p:nvSpPr>
        <p:spPr>
          <a:xfrm>
            <a:off x="868680" y="4471416"/>
            <a:ext cx="4709160" cy="548640"/>
          </a:xfrm>
          <a:prstGeom prst="rect">
            <a:avLst/>
          </a:prstGeom>
          <a:noFill/>
          <a:ln/>
        </p:spPr>
        <p:txBody>
          <a:bodyPr wrap="square" lIns="0" tIns="0" rIns="0" bIns="0" rtlCol="0" anchor="ctr"/>
          <a:lstStyle/>
          <a:p>
            <a:pPr indent="0" marL="0">
              <a:buNone/>
            </a:pPr>
            <a:r>
              <a:rPr lang="en-US" sz="1300" dirty="0">
                <a:solidFill>
                  <a:srgbClr val="27403F"/>
                </a:solidFill>
                <a:latin typeface="Calibri" pitchFamily="34" charset="0"/>
                <a:ea typeface="Calibri" pitchFamily="34" charset="-122"/>
                <a:cs typeface="Calibri" pitchFamily="34" charset="-120"/>
              </a:rPr>
              <a:t>No consistent quality or accountability</a:t>
            </a:r>
            <a:endParaRPr lang="en-US" sz="1300" dirty="0"/>
          </a:p>
        </p:txBody>
      </p:sp>
      <p:sp>
        <p:nvSpPr>
          <p:cNvPr id="12" name="Shape 9"/>
          <p:cNvSpPr/>
          <p:nvPr/>
        </p:nvSpPr>
        <p:spPr>
          <a:xfrm>
            <a:off x="6309360" y="1691640"/>
            <a:ext cx="5303520" cy="4114800"/>
          </a:xfrm>
          <a:prstGeom prst="roundRect">
            <a:avLst>
              <a:gd name="adj" fmla="val 1778"/>
            </a:avLst>
          </a:prstGeom>
          <a:solidFill>
            <a:srgbClr val="0B2027"/>
          </a:solidFill>
          <a:ln/>
        </p:spPr>
      </p:sp>
      <p:sp>
        <p:nvSpPr>
          <p:cNvPr id="13" name="Shape 10"/>
          <p:cNvSpPr/>
          <p:nvPr/>
        </p:nvSpPr>
        <p:spPr>
          <a:xfrm>
            <a:off x="6629400" y="1965960"/>
            <a:ext cx="502920" cy="502920"/>
          </a:xfrm>
          <a:prstGeom prst="ellipse">
            <a:avLst/>
          </a:prstGeom>
          <a:solidFill>
            <a:srgbClr val="02C39A"/>
          </a:solidFill>
          <a:ln/>
        </p:spPr>
      </p:sp>
      <p:pic>
        <p:nvPicPr>
          <p:cNvPr id="14" name="Image 1" descr="preencoded.png">    </p:cNvPr>
          <p:cNvPicPr>
            <a:picLocks noChangeAspect="1"/>
          </p:cNvPicPr>
          <p:nvPr/>
        </p:nvPicPr>
        <p:blipFill>
          <a:blip r:embed="rId2"/>
          <a:stretch>
            <a:fillRect/>
          </a:stretch>
        </p:blipFill>
        <p:spPr>
          <a:xfrm>
            <a:off x="6694780" y="2031340"/>
            <a:ext cx="372161" cy="372161"/>
          </a:xfrm>
          <a:prstGeom prst="rect">
            <a:avLst/>
          </a:prstGeom>
        </p:spPr>
      </p:pic>
      <p:sp>
        <p:nvSpPr>
          <p:cNvPr id="15" name="Text 11"/>
          <p:cNvSpPr txBox="1"/>
          <p:nvPr/>
        </p:nvSpPr>
        <p:spPr>
          <a:xfrm>
            <a:off x="7269480" y="2029968"/>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Smooth Application</a:t>
            </a:r>
            <a:endParaRPr lang="en-US" sz="1600" dirty="0"/>
          </a:p>
        </p:txBody>
      </p:sp>
      <p:sp>
        <p:nvSpPr>
          <p:cNvPr id="16" name="Text 12"/>
          <p:cNvSpPr txBox="1"/>
          <p:nvPr/>
        </p:nvSpPr>
        <p:spPr>
          <a:xfrm>
            <a:off x="6629400" y="2606040"/>
            <a:ext cx="470916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Free document prep — never case advice</a:t>
            </a:r>
            <a:endParaRPr lang="en-US" sz="1300" dirty="0"/>
          </a:p>
        </p:txBody>
      </p:sp>
      <p:sp>
        <p:nvSpPr>
          <p:cNvPr id="17" name="Text 13"/>
          <p:cNvSpPr txBox="1"/>
          <p:nvPr/>
        </p:nvSpPr>
        <p:spPr>
          <a:xfrm>
            <a:off x="6629400" y="3227832"/>
            <a:ext cx="470916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Refers only to OISC / CICC-verified professionals</a:t>
            </a:r>
            <a:endParaRPr lang="en-US" sz="1300" dirty="0"/>
          </a:p>
        </p:txBody>
      </p:sp>
      <p:sp>
        <p:nvSpPr>
          <p:cNvPr id="18" name="Text 14"/>
          <p:cNvSpPr txBox="1"/>
          <p:nvPr/>
        </p:nvSpPr>
        <p:spPr>
          <a:xfrm>
            <a:off x="6629400" y="3849624"/>
            <a:ext cx="470916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Nothing uploaded — privacy is architectural</a:t>
            </a:r>
            <a:endParaRPr lang="en-US" sz="1300" dirty="0"/>
          </a:p>
        </p:txBody>
      </p:sp>
      <p:sp>
        <p:nvSpPr>
          <p:cNvPr id="19" name="Text 15"/>
          <p:cNvSpPr txBox="1"/>
          <p:nvPr/>
        </p:nvSpPr>
        <p:spPr>
          <a:xfrm>
            <a:off x="6629400" y="4471416"/>
            <a:ext cx="470916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safer platform to trust and to partner with</a:t>
            </a:r>
            <a:endParaRPr lang="en-US" sz="1300" dirty="0"/>
          </a:p>
        </p:txBody>
      </p:sp>
      <p:sp>
        <p:nvSpPr>
          <p:cNvPr id="20" name="Text 16"/>
          <p:cNvSpPr txBox="1"/>
          <p:nvPr/>
        </p:nvSpPr>
        <p:spPr>
          <a:xfrm>
            <a:off x="548640" y="5897880"/>
            <a:ext cx="11064240" cy="502920"/>
          </a:xfrm>
          <a:prstGeom prst="rect">
            <a:avLst/>
          </a:prstGeom>
          <a:noFill/>
          <a:ln/>
        </p:spPr>
        <p:txBody>
          <a:bodyPr wrap="square" lIns="0" tIns="0" rIns="0" bIns="0" rtlCol="0" anchor="ctr"/>
          <a:lstStyle/>
          <a:p>
            <a:pPr indent="0" marL="0">
              <a:lnSpc>
                <a:spcPct val="115000"/>
              </a:lnSpc>
              <a:buNone/>
            </a:pPr>
            <a:r>
              <a:rPr lang="en-US" sz="1050" i="1" dirty="0">
                <a:solidFill>
                  <a:srgbClr val="6B8A87"/>
                </a:solidFill>
                <a:latin typeface="Calibri" pitchFamily="34" charset="0"/>
                <a:ea typeface="Calibri" pitchFamily="34" charset="-122"/>
                <a:cs typeface="Calibri" pitchFamily="34" charset="-120"/>
              </a:rPr>
              <a:t>Closest adjacent tool we've found: VisaOS, a general-purpose checklist/evidence-map product — not built for Nigerian applicants specifically, and not free. Nothing we've found combines free access, this country-specific depth, and a Nigeria-first support channel.</a:t>
            </a:r>
            <a:endParaRPr lang="en-US" sz="1050" dirty="0"/>
          </a:p>
        </p:txBody>
      </p:sp>
      <p:sp>
        <p:nvSpPr>
          <p:cNvPr id="21" name="Text 17"/>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2" name="Text 18"/>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RISKS</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We looked for the holes ourselves</a:t>
            </a:r>
            <a:endParaRPr lang="en-US" sz="3200" dirty="0"/>
          </a:p>
        </p:txBody>
      </p:sp>
      <p:sp>
        <p:nvSpPr>
          <p:cNvPr id="4" name="Shape 2"/>
          <p:cNvSpPr/>
          <p:nvPr/>
        </p:nvSpPr>
        <p:spPr>
          <a:xfrm>
            <a:off x="548640" y="1783080"/>
            <a:ext cx="502920" cy="502920"/>
          </a:xfrm>
          <a:prstGeom prst="ellipse">
            <a:avLst/>
          </a:prstGeom>
          <a:solidFill>
            <a:srgbClr val="B3541E"/>
          </a:solidFill>
          <a:ln/>
        </p:spPr>
      </p:sp>
      <p:pic>
        <p:nvPicPr>
          <p:cNvPr id="5" name="Image 0" descr="preencoded.png">    </p:cNvPr>
          <p:cNvPicPr>
            <a:picLocks noChangeAspect="1"/>
          </p:cNvPicPr>
          <p:nvPr/>
        </p:nvPicPr>
        <p:blipFill>
          <a:blip r:embed="rId1"/>
          <a:stretch>
            <a:fillRect/>
          </a:stretch>
        </p:blipFill>
        <p:spPr>
          <a:xfrm>
            <a:off x="614020" y="1848460"/>
            <a:ext cx="372161" cy="372161"/>
          </a:xfrm>
          <a:prstGeom prst="rect">
            <a:avLst/>
          </a:prstGeom>
        </p:spPr>
      </p:pic>
      <p:sp>
        <p:nvSpPr>
          <p:cNvPr id="6" name="Text 3"/>
          <p:cNvSpPr txBox="1"/>
          <p:nvPr/>
        </p:nvSpPr>
        <p:spPr>
          <a:xfrm>
            <a:off x="1234440" y="1801368"/>
            <a:ext cx="4297680" cy="822960"/>
          </a:xfrm>
          <a:prstGeom prst="rect">
            <a:avLst/>
          </a:prstGeom>
          <a:noFill/>
          <a:ln/>
        </p:spPr>
        <p:txBody>
          <a:bodyPr wrap="square" lIns="0" tIns="0" rIns="0" bIns="0" rtlCol="0" anchor="ctr"/>
          <a:lstStyle/>
          <a:p>
            <a:pPr indent="0" marL="0">
              <a:lnSpc>
                <a:spcPct val="115000"/>
              </a:lnSpc>
              <a:buNone/>
            </a:pPr>
            <a:r>
              <a:rPr lang="en-US" sz="1400" b="1" dirty="0">
                <a:solidFill>
                  <a:srgbClr val="0B2027"/>
                </a:solidFill>
                <a:latin typeface="Calibri" pitchFamily="34" charset="0"/>
                <a:ea typeface="Calibri" pitchFamily="34" charset="-122"/>
                <a:cs typeface="Calibri" pitchFamily="34" charset="-120"/>
              </a:rPr>
              <a:t>Unlicensed immigration advice</a:t>
            </a:r>
            <a:endParaRPr lang="en-US" sz="1400" dirty="0"/>
          </a:p>
        </p:txBody>
      </p:sp>
      <p:sp>
        <p:nvSpPr>
          <p:cNvPr id="7" name="Shape 4"/>
          <p:cNvSpPr/>
          <p:nvPr/>
        </p:nvSpPr>
        <p:spPr>
          <a:xfrm>
            <a:off x="5852160" y="1783080"/>
            <a:ext cx="502920" cy="502920"/>
          </a:xfrm>
          <a:prstGeom prst="ellipse">
            <a:avLst/>
          </a:prstGeom>
          <a:solidFill>
            <a:srgbClr val="02C39A"/>
          </a:solidFill>
          <a:ln/>
        </p:spPr>
      </p:sp>
      <p:pic>
        <p:nvPicPr>
          <p:cNvPr id="8" name="Image 1" descr="preencoded.png">    </p:cNvPr>
          <p:cNvPicPr>
            <a:picLocks noChangeAspect="1"/>
          </p:cNvPicPr>
          <p:nvPr/>
        </p:nvPicPr>
        <p:blipFill>
          <a:blip r:embed="rId2"/>
          <a:stretch>
            <a:fillRect/>
          </a:stretch>
        </p:blipFill>
        <p:spPr>
          <a:xfrm>
            <a:off x="5917540" y="1848460"/>
            <a:ext cx="372161" cy="372161"/>
          </a:xfrm>
          <a:prstGeom prst="rect">
            <a:avLst/>
          </a:prstGeom>
        </p:spPr>
      </p:pic>
      <p:sp>
        <p:nvSpPr>
          <p:cNvPr id="9" name="Text 5"/>
          <p:cNvSpPr txBox="1"/>
          <p:nvPr/>
        </p:nvSpPr>
        <p:spPr>
          <a:xfrm>
            <a:off x="6537960" y="1801368"/>
            <a:ext cx="5029200" cy="822960"/>
          </a:xfrm>
          <a:prstGeom prst="rect">
            <a:avLst/>
          </a:prstGeom>
          <a:noFill/>
          <a:ln/>
        </p:spPr>
        <p:txBody>
          <a:bodyPr wrap="square" lIns="0" tIns="0" rIns="0" bIns="0" rtlCol="0" anchor="ctr"/>
          <a:lstStyle/>
          <a:p>
            <a:pPr indent="0" marL="0">
              <a:lnSpc>
                <a:spcPct val="120000"/>
              </a:lnSpc>
              <a:buNone/>
            </a:pPr>
            <a:r>
              <a:rPr lang="en-US" sz="1300" dirty="0">
                <a:solidFill>
                  <a:srgbClr val="27403F"/>
                </a:solidFill>
                <a:latin typeface="Calibri" pitchFamily="34" charset="0"/>
                <a:ea typeface="Calibri" pitchFamily="34" charset="-122"/>
                <a:cs typeface="Calibri" pitchFamily="34" charset="-120"/>
              </a:rPr>
              <a:t>Never diagnose or advise on a case ourselves — refer only to verified OISC / CICC professionals.</a:t>
            </a:r>
            <a:endParaRPr lang="en-US" sz="1300" dirty="0"/>
          </a:p>
        </p:txBody>
      </p:sp>
      <p:sp>
        <p:nvSpPr>
          <p:cNvPr id="10" name="Shape 6"/>
          <p:cNvSpPr/>
          <p:nvPr/>
        </p:nvSpPr>
        <p:spPr>
          <a:xfrm>
            <a:off x="548640" y="3017520"/>
            <a:ext cx="502920" cy="502920"/>
          </a:xfrm>
          <a:prstGeom prst="ellipse">
            <a:avLst/>
          </a:prstGeom>
          <a:solidFill>
            <a:srgbClr val="B3541E"/>
          </a:solidFill>
          <a:ln/>
        </p:spPr>
      </p:sp>
      <p:pic>
        <p:nvPicPr>
          <p:cNvPr id="11" name="Image 2" descr="preencoded.png">    </p:cNvPr>
          <p:cNvPicPr>
            <a:picLocks noChangeAspect="1"/>
          </p:cNvPicPr>
          <p:nvPr/>
        </p:nvPicPr>
        <p:blipFill>
          <a:blip r:embed="rId3"/>
          <a:stretch>
            <a:fillRect/>
          </a:stretch>
        </p:blipFill>
        <p:spPr>
          <a:xfrm>
            <a:off x="614020" y="3082900"/>
            <a:ext cx="372161" cy="372161"/>
          </a:xfrm>
          <a:prstGeom prst="rect">
            <a:avLst/>
          </a:prstGeom>
        </p:spPr>
      </p:pic>
      <p:sp>
        <p:nvSpPr>
          <p:cNvPr id="12" name="Text 7"/>
          <p:cNvSpPr txBox="1"/>
          <p:nvPr/>
        </p:nvSpPr>
        <p:spPr>
          <a:xfrm>
            <a:off x="1234440" y="3035808"/>
            <a:ext cx="4297680" cy="822960"/>
          </a:xfrm>
          <a:prstGeom prst="rect">
            <a:avLst/>
          </a:prstGeom>
          <a:noFill/>
          <a:ln/>
        </p:spPr>
        <p:txBody>
          <a:bodyPr wrap="square" lIns="0" tIns="0" rIns="0" bIns="0" rtlCol="0" anchor="ctr"/>
          <a:lstStyle/>
          <a:p>
            <a:pPr indent="0" marL="0">
              <a:lnSpc>
                <a:spcPct val="115000"/>
              </a:lnSpc>
              <a:buNone/>
            </a:pPr>
            <a:r>
              <a:rPr lang="en-US" sz="1400" b="1" dirty="0">
                <a:solidFill>
                  <a:srgbClr val="0B2027"/>
                </a:solidFill>
                <a:latin typeface="Calibri" pitchFamily="34" charset="0"/>
                <a:ea typeface="Calibri" pitchFamily="34" charset="-122"/>
                <a:cs typeface="Calibri" pitchFamily="34" charset="-120"/>
              </a:rPr>
              <a:t>Marketplace disintermediation (the “Uber problem”)</a:t>
            </a:r>
            <a:endParaRPr lang="en-US" sz="1400" dirty="0"/>
          </a:p>
        </p:txBody>
      </p:sp>
      <p:sp>
        <p:nvSpPr>
          <p:cNvPr id="13" name="Shape 8"/>
          <p:cNvSpPr/>
          <p:nvPr/>
        </p:nvSpPr>
        <p:spPr>
          <a:xfrm>
            <a:off x="5852160" y="3017520"/>
            <a:ext cx="502920" cy="502920"/>
          </a:xfrm>
          <a:prstGeom prst="ellipse">
            <a:avLst/>
          </a:prstGeom>
          <a:solidFill>
            <a:srgbClr val="02C39A"/>
          </a:solidFill>
          <a:ln/>
        </p:spPr>
      </p:sp>
      <p:pic>
        <p:nvPicPr>
          <p:cNvPr id="14" name="Image 3" descr="preencoded.png">    </p:cNvPr>
          <p:cNvPicPr>
            <a:picLocks noChangeAspect="1"/>
          </p:cNvPicPr>
          <p:nvPr/>
        </p:nvPicPr>
        <p:blipFill>
          <a:blip r:embed="rId4"/>
          <a:stretch>
            <a:fillRect/>
          </a:stretch>
        </p:blipFill>
        <p:spPr>
          <a:xfrm>
            <a:off x="5917540" y="3082900"/>
            <a:ext cx="372161" cy="372161"/>
          </a:xfrm>
          <a:prstGeom prst="rect">
            <a:avLst/>
          </a:prstGeom>
        </p:spPr>
      </p:pic>
      <p:sp>
        <p:nvSpPr>
          <p:cNvPr id="15" name="Text 9"/>
          <p:cNvSpPr txBox="1"/>
          <p:nvPr/>
        </p:nvSpPr>
        <p:spPr>
          <a:xfrm>
            <a:off x="6537960" y="3035808"/>
            <a:ext cx="5029200" cy="822960"/>
          </a:xfrm>
          <a:prstGeom prst="rect">
            <a:avLst/>
          </a:prstGeom>
          <a:noFill/>
          <a:ln/>
        </p:spPr>
        <p:txBody>
          <a:bodyPr wrap="square" lIns="0" tIns="0" rIns="0" bIns="0" rtlCol="0" anchor="ctr"/>
          <a:lstStyle/>
          <a:p>
            <a:pPr indent="0" marL="0">
              <a:lnSpc>
                <a:spcPct val="120000"/>
              </a:lnSpc>
              <a:buNone/>
            </a:pPr>
            <a:r>
              <a:rPr lang="en-US" sz="1300" dirty="0">
                <a:solidFill>
                  <a:srgbClr val="27403F"/>
                </a:solidFill>
                <a:latin typeface="Calibri" pitchFamily="34" charset="0"/>
                <a:ea typeface="Calibri" pitchFamily="34" charset="-122"/>
                <a:cs typeface="Calibri" pitchFamily="34" charset="-120"/>
              </a:rPr>
              <a:t>Paid per lead at introduction, not a revenue share — and B2B subscriptions as the core recurring line, which has no relationship to leak.</a:t>
            </a:r>
            <a:endParaRPr lang="en-US" sz="1300" dirty="0"/>
          </a:p>
        </p:txBody>
      </p:sp>
      <p:sp>
        <p:nvSpPr>
          <p:cNvPr id="16" name="Shape 10"/>
          <p:cNvSpPr/>
          <p:nvPr/>
        </p:nvSpPr>
        <p:spPr>
          <a:xfrm>
            <a:off x="548640" y="4251960"/>
            <a:ext cx="502920" cy="502920"/>
          </a:xfrm>
          <a:prstGeom prst="ellipse">
            <a:avLst/>
          </a:prstGeom>
          <a:solidFill>
            <a:srgbClr val="B3541E"/>
          </a:solidFill>
          <a:ln/>
        </p:spPr>
      </p:sp>
      <p:pic>
        <p:nvPicPr>
          <p:cNvPr id="17" name="Image 4" descr="preencoded.png">    </p:cNvPr>
          <p:cNvPicPr>
            <a:picLocks noChangeAspect="1"/>
          </p:cNvPicPr>
          <p:nvPr/>
        </p:nvPicPr>
        <p:blipFill>
          <a:blip r:embed="rId5"/>
          <a:stretch>
            <a:fillRect/>
          </a:stretch>
        </p:blipFill>
        <p:spPr>
          <a:xfrm>
            <a:off x="614020" y="4317340"/>
            <a:ext cx="372161" cy="372161"/>
          </a:xfrm>
          <a:prstGeom prst="rect">
            <a:avLst/>
          </a:prstGeom>
        </p:spPr>
      </p:pic>
      <p:sp>
        <p:nvSpPr>
          <p:cNvPr id="18" name="Text 11"/>
          <p:cNvSpPr txBox="1"/>
          <p:nvPr/>
        </p:nvSpPr>
        <p:spPr>
          <a:xfrm>
            <a:off x="1234440" y="4270248"/>
            <a:ext cx="4297680" cy="822960"/>
          </a:xfrm>
          <a:prstGeom prst="rect">
            <a:avLst/>
          </a:prstGeom>
          <a:noFill/>
          <a:ln/>
        </p:spPr>
        <p:txBody>
          <a:bodyPr wrap="square" lIns="0" tIns="0" rIns="0" bIns="0" rtlCol="0" anchor="ctr"/>
          <a:lstStyle/>
          <a:p>
            <a:pPr indent="0" marL="0">
              <a:lnSpc>
                <a:spcPct val="115000"/>
              </a:lnSpc>
              <a:buNone/>
            </a:pPr>
            <a:r>
              <a:rPr lang="en-US" sz="1400" b="1" dirty="0">
                <a:solidFill>
                  <a:srgbClr val="0B2027"/>
                </a:solidFill>
                <a:latin typeface="Calibri" pitchFamily="34" charset="0"/>
                <a:ea typeface="Calibri" pitchFamily="34" charset="-122"/>
                <a:cs typeface="Calibri" pitchFamily="34" charset="-120"/>
              </a:rPr>
              <a:t>OCR / scan accuracy</a:t>
            </a:r>
            <a:endParaRPr lang="en-US" sz="1400" dirty="0"/>
          </a:p>
        </p:txBody>
      </p:sp>
      <p:sp>
        <p:nvSpPr>
          <p:cNvPr id="19" name="Shape 12"/>
          <p:cNvSpPr/>
          <p:nvPr/>
        </p:nvSpPr>
        <p:spPr>
          <a:xfrm>
            <a:off x="5852160" y="4251960"/>
            <a:ext cx="502920" cy="502920"/>
          </a:xfrm>
          <a:prstGeom prst="ellipse">
            <a:avLst/>
          </a:prstGeom>
          <a:solidFill>
            <a:srgbClr val="02C39A"/>
          </a:solidFill>
          <a:ln/>
        </p:spPr>
      </p:sp>
      <p:pic>
        <p:nvPicPr>
          <p:cNvPr id="20" name="Image 5" descr="preencoded.png">    </p:cNvPr>
          <p:cNvPicPr>
            <a:picLocks noChangeAspect="1"/>
          </p:cNvPicPr>
          <p:nvPr/>
        </p:nvPicPr>
        <p:blipFill>
          <a:blip r:embed="rId6"/>
          <a:stretch>
            <a:fillRect/>
          </a:stretch>
        </p:blipFill>
        <p:spPr>
          <a:xfrm>
            <a:off x="5917540" y="4317340"/>
            <a:ext cx="372161" cy="372161"/>
          </a:xfrm>
          <a:prstGeom prst="rect">
            <a:avLst/>
          </a:prstGeom>
        </p:spPr>
      </p:pic>
      <p:sp>
        <p:nvSpPr>
          <p:cNvPr id="21" name="Text 13"/>
          <p:cNvSpPr txBox="1"/>
          <p:nvPr/>
        </p:nvSpPr>
        <p:spPr>
          <a:xfrm>
            <a:off x="6537960" y="4270248"/>
            <a:ext cx="5029200" cy="822960"/>
          </a:xfrm>
          <a:prstGeom prst="rect">
            <a:avLst/>
          </a:prstGeom>
          <a:noFill/>
          <a:ln/>
        </p:spPr>
        <p:txBody>
          <a:bodyPr wrap="square" lIns="0" tIns="0" rIns="0" bIns="0" rtlCol="0" anchor="ctr"/>
          <a:lstStyle/>
          <a:p>
            <a:pPr indent="0" marL="0">
              <a:lnSpc>
                <a:spcPct val="120000"/>
              </a:lnSpc>
              <a:buNone/>
            </a:pPr>
            <a:r>
              <a:rPr lang="en-US" sz="1300" dirty="0">
                <a:solidFill>
                  <a:srgbClr val="27403F"/>
                </a:solidFill>
                <a:latin typeface="Calibri" pitchFamily="34" charset="0"/>
                <a:ea typeface="Calibri" pitchFamily="34" charset="-122"/>
                <a:cs typeface="Calibri" pitchFamily="34" charset="-120"/>
              </a:rPr>
              <a:t>Manual-entry fallback on every scanned field, and every real failure ships as a fix within days.</a:t>
            </a:r>
            <a:endParaRPr lang="en-US" sz="1300" dirty="0"/>
          </a:p>
        </p:txBody>
      </p:sp>
      <p:sp>
        <p:nvSpPr>
          <p:cNvPr id="22" name="Text 14"/>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3" name="Text 1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TEAM</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Two co-founders, four ventures built together before this one</a:t>
            </a:r>
            <a:endParaRPr lang="en-US" sz="3200" dirty="0"/>
          </a:p>
        </p:txBody>
      </p:sp>
      <p:sp>
        <p:nvSpPr>
          <p:cNvPr id="4" name="Shape 2"/>
          <p:cNvSpPr/>
          <p:nvPr/>
        </p:nvSpPr>
        <p:spPr>
          <a:xfrm>
            <a:off x="548640" y="1554480"/>
            <a:ext cx="5349240" cy="4160520"/>
          </a:xfrm>
          <a:prstGeom prst="roundRect">
            <a:avLst>
              <a:gd name="adj" fmla="val 1758"/>
            </a:avLst>
          </a:prstGeom>
          <a:solidFill>
            <a:srgbClr val="EAF6F5"/>
          </a:solidFill>
          <a:ln/>
        </p:spPr>
      </p:sp>
      <p:sp>
        <p:nvSpPr>
          <p:cNvPr id="5" name="Shape 3"/>
          <p:cNvSpPr/>
          <p:nvPr/>
        </p:nvSpPr>
        <p:spPr>
          <a:xfrm>
            <a:off x="868680" y="1874520"/>
            <a:ext cx="777240" cy="77724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969721" y="1975561"/>
            <a:ext cx="575158" cy="575158"/>
          </a:xfrm>
          <a:prstGeom prst="rect">
            <a:avLst/>
          </a:prstGeom>
        </p:spPr>
      </p:pic>
      <p:sp>
        <p:nvSpPr>
          <p:cNvPr id="7" name="Text 4"/>
          <p:cNvSpPr txBox="1"/>
          <p:nvPr/>
        </p:nvSpPr>
        <p:spPr>
          <a:xfrm>
            <a:off x="1783080" y="1883664"/>
            <a:ext cx="3794760" cy="384048"/>
          </a:xfrm>
          <a:prstGeom prst="rect">
            <a:avLst/>
          </a:prstGeom>
          <a:noFill/>
          <a:ln/>
        </p:spPr>
        <p:txBody>
          <a:bodyPr wrap="square" lIns="0" tIns="0" rIns="0" bIns="0" rtlCol="0" anchor="ctr"/>
          <a:lstStyle/>
          <a:p>
            <a:pPr indent="0" marL="0">
              <a:buNone/>
            </a:pPr>
            <a:r>
              <a:rPr lang="en-US" sz="1900" b="1" dirty="0">
                <a:solidFill>
                  <a:srgbClr val="0B2027"/>
                </a:solidFill>
                <a:latin typeface="Cambria" pitchFamily="34" charset="0"/>
                <a:ea typeface="Cambria" pitchFamily="34" charset="-122"/>
                <a:cs typeface="Cambria" pitchFamily="34" charset="-120"/>
              </a:rPr>
              <a:t>Seyi Afeni</a:t>
            </a:r>
            <a:endParaRPr lang="en-US" sz="1900" dirty="0"/>
          </a:p>
        </p:txBody>
      </p:sp>
      <p:sp>
        <p:nvSpPr>
          <p:cNvPr id="8" name="Text 5"/>
          <p:cNvSpPr txBox="1"/>
          <p:nvPr/>
        </p:nvSpPr>
        <p:spPr>
          <a:xfrm>
            <a:off x="1783080" y="2267712"/>
            <a:ext cx="3794760" cy="292608"/>
          </a:xfrm>
          <a:prstGeom prst="rect">
            <a:avLst/>
          </a:prstGeom>
          <a:noFill/>
          <a:ln/>
        </p:spPr>
        <p:txBody>
          <a:bodyPr wrap="square" lIns="0" tIns="0" rIns="0" bIns="0" rtlCol="0" anchor="ctr"/>
          <a:lstStyle/>
          <a:p>
            <a:pPr indent="0" marL="0">
              <a:buNone/>
            </a:pPr>
            <a:r>
              <a:rPr lang="en-US" sz="1250" dirty="0">
                <a:solidFill>
                  <a:srgbClr val="6B8A87"/>
                </a:solidFill>
                <a:latin typeface="Calibri" pitchFamily="34" charset="0"/>
                <a:ea typeface="Calibri" pitchFamily="34" charset="-122"/>
                <a:cs typeface="Calibri" pitchFamily="34" charset="-120"/>
              </a:rPr>
              <a:t>Founder</a:t>
            </a:r>
            <a:endParaRPr lang="en-US" sz="1250" dirty="0"/>
          </a:p>
        </p:txBody>
      </p:sp>
      <p:sp>
        <p:nvSpPr>
          <p:cNvPr id="9" name="Text 6"/>
          <p:cNvSpPr txBox="1"/>
          <p:nvPr/>
        </p:nvSpPr>
        <p:spPr>
          <a:xfrm>
            <a:off x="868680" y="2834640"/>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Academia platform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Free study materials for university students — 10,000+ downloads</a:t>
            </a:r>
            <a:endParaRPr lang="en-US" sz="1100" dirty="0"/>
          </a:p>
        </p:txBody>
      </p:sp>
      <p:sp>
        <p:nvSpPr>
          <p:cNvPr id="10" name="Text 7"/>
          <p:cNvSpPr txBox="1"/>
          <p:nvPr/>
        </p:nvSpPr>
        <p:spPr>
          <a:xfrm>
            <a:off x="868680" y="3547872"/>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Safevisuals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Published The Visuals, a highly visual textbook for secondary school students</a:t>
            </a:r>
            <a:endParaRPr lang="en-US" sz="1100" dirty="0"/>
          </a:p>
        </p:txBody>
      </p:sp>
      <p:sp>
        <p:nvSpPr>
          <p:cNvPr id="11" name="Text 8"/>
          <p:cNvSpPr txBox="1"/>
          <p:nvPr/>
        </p:nvSpPr>
        <p:spPr>
          <a:xfrm>
            <a:off x="868680" y="4261104"/>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Kipnest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Airbnb-style accommodation platform for lawyers attending Bar conferences</a:t>
            </a:r>
            <a:endParaRPr lang="en-US" sz="1100" dirty="0"/>
          </a:p>
        </p:txBody>
      </p:sp>
      <p:sp>
        <p:nvSpPr>
          <p:cNvPr id="12" name="Text 9"/>
          <p:cNvSpPr txBox="1"/>
          <p:nvPr/>
        </p:nvSpPr>
        <p:spPr>
          <a:xfrm>
            <a:off x="868680" y="4974336"/>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Crisp Laundry Solution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Software for laundry businesses — 100 users</a:t>
            </a:r>
            <a:endParaRPr lang="en-US" sz="1100" dirty="0"/>
          </a:p>
        </p:txBody>
      </p:sp>
      <p:sp>
        <p:nvSpPr>
          <p:cNvPr id="13" name="Shape 10"/>
          <p:cNvSpPr/>
          <p:nvPr/>
        </p:nvSpPr>
        <p:spPr>
          <a:xfrm>
            <a:off x="6291072" y="1554480"/>
            <a:ext cx="5349240" cy="4160520"/>
          </a:xfrm>
          <a:prstGeom prst="roundRect">
            <a:avLst>
              <a:gd name="adj" fmla="val 1758"/>
            </a:avLst>
          </a:prstGeom>
          <a:solidFill>
            <a:srgbClr val="EAF6F5"/>
          </a:solidFill>
          <a:ln/>
        </p:spPr>
      </p:sp>
      <p:sp>
        <p:nvSpPr>
          <p:cNvPr id="14" name="Shape 11"/>
          <p:cNvSpPr/>
          <p:nvPr/>
        </p:nvSpPr>
        <p:spPr>
          <a:xfrm>
            <a:off x="6611112" y="1874520"/>
            <a:ext cx="777240" cy="777240"/>
          </a:xfrm>
          <a:prstGeom prst="ellipse">
            <a:avLst/>
          </a:prstGeom>
          <a:solidFill>
            <a:srgbClr val="00A896"/>
          </a:solidFill>
          <a:ln/>
        </p:spPr>
      </p:sp>
      <p:pic>
        <p:nvPicPr>
          <p:cNvPr id="15" name="Image 1" descr="preencoded.png">    </p:cNvPr>
          <p:cNvPicPr>
            <a:picLocks noChangeAspect="1"/>
          </p:cNvPicPr>
          <p:nvPr/>
        </p:nvPicPr>
        <p:blipFill>
          <a:blip r:embed="rId2"/>
          <a:stretch>
            <a:fillRect/>
          </a:stretch>
        </p:blipFill>
        <p:spPr>
          <a:xfrm>
            <a:off x="6712153" y="1975561"/>
            <a:ext cx="575158" cy="575158"/>
          </a:xfrm>
          <a:prstGeom prst="rect">
            <a:avLst/>
          </a:prstGeom>
        </p:spPr>
      </p:pic>
      <p:sp>
        <p:nvSpPr>
          <p:cNvPr id="16" name="Text 12"/>
          <p:cNvSpPr txBox="1"/>
          <p:nvPr/>
        </p:nvSpPr>
        <p:spPr>
          <a:xfrm>
            <a:off x="7525512" y="1883664"/>
            <a:ext cx="3794760" cy="384048"/>
          </a:xfrm>
          <a:prstGeom prst="rect">
            <a:avLst/>
          </a:prstGeom>
          <a:noFill/>
          <a:ln/>
        </p:spPr>
        <p:txBody>
          <a:bodyPr wrap="square" lIns="0" tIns="0" rIns="0" bIns="0" rtlCol="0" anchor="ctr"/>
          <a:lstStyle/>
          <a:p>
            <a:pPr indent="0" marL="0">
              <a:buNone/>
            </a:pPr>
            <a:r>
              <a:rPr lang="en-US" sz="1900" b="1" dirty="0">
                <a:solidFill>
                  <a:srgbClr val="0B2027"/>
                </a:solidFill>
                <a:latin typeface="Cambria" pitchFamily="34" charset="0"/>
                <a:ea typeface="Cambria" pitchFamily="34" charset="-122"/>
                <a:cs typeface="Cambria" pitchFamily="34" charset="-120"/>
              </a:rPr>
              <a:t>Sope Tubi</a:t>
            </a:r>
            <a:endParaRPr lang="en-US" sz="1900" dirty="0"/>
          </a:p>
        </p:txBody>
      </p:sp>
      <p:sp>
        <p:nvSpPr>
          <p:cNvPr id="17" name="Text 13"/>
          <p:cNvSpPr txBox="1"/>
          <p:nvPr/>
        </p:nvSpPr>
        <p:spPr>
          <a:xfrm>
            <a:off x="7525512" y="2267712"/>
            <a:ext cx="3794760" cy="292608"/>
          </a:xfrm>
          <a:prstGeom prst="rect">
            <a:avLst/>
          </a:prstGeom>
          <a:noFill/>
          <a:ln/>
        </p:spPr>
        <p:txBody>
          <a:bodyPr wrap="square" lIns="0" tIns="0" rIns="0" bIns="0" rtlCol="0" anchor="ctr"/>
          <a:lstStyle/>
          <a:p>
            <a:pPr indent="0" marL="0">
              <a:buNone/>
            </a:pPr>
            <a:r>
              <a:rPr lang="en-US" sz="1250" dirty="0">
                <a:solidFill>
                  <a:srgbClr val="6B8A87"/>
                </a:solidFill>
                <a:latin typeface="Calibri" pitchFamily="34" charset="0"/>
                <a:ea typeface="Calibri" pitchFamily="34" charset="-122"/>
                <a:cs typeface="Calibri" pitchFamily="34" charset="-120"/>
              </a:rPr>
              <a:t>Co-Founder &amp; CTO</a:t>
            </a:r>
            <a:endParaRPr lang="en-US" sz="1250" dirty="0"/>
          </a:p>
        </p:txBody>
      </p:sp>
      <p:sp>
        <p:nvSpPr>
          <p:cNvPr id="18" name="Text 14"/>
          <p:cNvSpPr txBox="1"/>
          <p:nvPr/>
        </p:nvSpPr>
        <p:spPr>
          <a:xfrm>
            <a:off x="6611112" y="2834640"/>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Academia platform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Co-founded and engineered the platform behind the 10,000+ downloads</a:t>
            </a:r>
            <a:endParaRPr lang="en-US" sz="1100" dirty="0"/>
          </a:p>
        </p:txBody>
      </p:sp>
      <p:sp>
        <p:nvSpPr>
          <p:cNvPr id="19" name="Text 15"/>
          <p:cNvSpPr txBox="1"/>
          <p:nvPr/>
        </p:nvSpPr>
        <p:spPr>
          <a:xfrm>
            <a:off x="6611112" y="3547872"/>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Safevisuals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Co-founded; led engineering behind The Visuals</a:t>
            </a:r>
            <a:endParaRPr lang="en-US" sz="1100" dirty="0"/>
          </a:p>
        </p:txBody>
      </p:sp>
      <p:sp>
        <p:nvSpPr>
          <p:cNvPr id="20" name="Text 16"/>
          <p:cNvSpPr txBox="1"/>
          <p:nvPr/>
        </p:nvSpPr>
        <p:spPr>
          <a:xfrm>
            <a:off x="6611112" y="4261104"/>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Kipnest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Co-founded the Bar-conference accommodation platform</a:t>
            </a:r>
            <a:endParaRPr lang="en-US" sz="1100" dirty="0"/>
          </a:p>
        </p:txBody>
      </p:sp>
      <p:sp>
        <p:nvSpPr>
          <p:cNvPr id="21" name="Text 17"/>
          <p:cNvSpPr txBox="1"/>
          <p:nvPr/>
        </p:nvSpPr>
        <p:spPr>
          <a:xfrm>
            <a:off x="6611112" y="4974336"/>
            <a:ext cx="4709160" cy="713232"/>
          </a:xfrm>
          <a:prstGeom prst="rect">
            <a:avLst/>
          </a:prstGeom>
          <a:noFill/>
          <a:ln/>
        </p:spPr>
        <p:txBody>
          <a:bodyPr wrap="square" lIns="0" tIns="0" rIns="0" bIns="0" rtlCol="0" anchor="t"/>
          <a:lstStyle/>
          <a:p>
            <a:pPr indent="0" marL="0">
              <a:lnSpc>
                <a:spcPct val="118000"/>
              </a:lnSpc>
              <a:buNone/>
            </a:pPr>
            <a:r>
              <a:rPr lang="en-US" sz="1100" b="1" dirty="0">
                <a:solidFill>
                  <a:srgbClr val="0B2027"/>
                </a:solidFill>
                <a:latin typeface="Calibri" pitchFamily="34" charset="0"/>
                <a:ea typeface="Calibri" pitchFamily="34" charset="-122"/>
                <a:cs typeface="Calibri" pitchFamily="34" charset="-120"/>
              </a:rPr>
              <a:t>Crisp Laundry Solution  </a:t>
            </a:r>
            <a:pPr indent="0" marL="0">
              <a:lnSpc>
                <a:spcPct val="118000"/>
              </a:lnSpc>
              <a:buNone/>
            </a:pPr>
            <a:r>
              <a:rPr lang="en-US" sz="1100" dirty="0">
                <a:solidFill>
                  <a:srgbClr val="27403F"/>
                </a:solidFill>
                <a:latin typeface="Calibri" pitchFamily="34" charset="0"/>
                <a:ea typeface="Calibri" pitchFamily="34" charset="-122"/>
                <a:cs typeface="Calibri" pitchFamily="34" charset="-120"/>
              </a:rPr>
              <a:t>Co-founded; built the laundry-business software, 100 users</a:t>
            </a:r>
            <a:endParaRPr lang="en-US" sz="1100" dirty="0"/>
          </a:p>
        </p:txBody>
      </p:sp>
      <p:sp>
        <p:nvSpPr>
          <p:cNvPr id="22" name="Text 18"/>
          <p:cNvSpPr txBox="1"/>
          <p:nvPr/>
        </p:nvSpPr>
        <p:spPr>
          <a:xfrm>
            <a:off x="548640" y="5879592"/>
            <a:ext cx="11091672" cy="365760"/>
          </a:xfrm>
          <a:prstGeom prst="rect">
            <a:avLst/>
          </a:prstGeom>
          <a:noFill/>
          <a:ln/>
        </p:spPr>
        <p:txBody>
          <a:bodyPr wrap="square" lIns="0" tIns="0" rIns="0" bIns="0" rtlCol="0" anchor="ctr"/>
          <a:lstStyle/>
          <a:p>
            <a:pPr indent="0" marL="0">
              <a:buNone/>
            </a:pPr>
            <a:r>
              <a:rPr lang="en-US" sz="1200" b="1" dirty="0">
                <a:solidFill>
                  <a:srgbClr val="0B2027"/>
                </a:solidFill>
                <a:latin typeface="Calibri" pitchFamily="34" charset="0"/>
                <a:ea typeface="Calibri" pitchFamily="34" charset="-122"/>
                <a:cs typeface="Calibri" pitchFamily="34" charset="-120"/>
              </a:rPr>
              <a:t>Fourth venture together, not the first. </a:t>
            </a:r>
            <a:pPr indent="0" marL="0">
              <a:buNone/>
            </a:pPr>
            <a:r>
              <a:rPr lang="en-US" sz="1200" dirty="0">
                <a:solidFill>
                  <a:srgbClr val="6B8A87"/>
                </a:solidFill>
                <a:latin typeface="Calibri" pitchFamily="34" charset="0"/>
                <a:ea typeface="Calibri" pitchFamily="34" charset="-122"/>
                <a:cs typeface="Calibri" pitchFamily="34" charset="-120"/>
              </a:rPr>
              <a:t>Same founding pair has shipped and gotten real users on three prior products — this team ships.</a:t>
            </a:r>
            <a:endParaRPr lang="en-US" sz="1200" dirty="0"/>
          </a:p>
        </p:txBody>
      </p:sp>
      <p:sp>
        <p:nvSpPr>
          <p:cNvPr id="23" name="Text 19"/>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24" name="Text 2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THE ASK</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3200" b="1" dirty="0">
                <a:solidFill>
                  <a:srgbClr val="0B2027"/>
                </a:solidFill>
                <a:latin typeface="Cambria" pitchFamily="34" charset="0"/>
                <a:ea typeface="Cambria" pitchFamily="34" charset="-122"/>
                <a:cs typeface="Cambria" pitchFamily="34" charset="-120"/>
              </a:rPr>
              <a:t>Raising to prove the model, not just the product</a:t>
            </a:r>
            <a:endParaRPr lang="en-US" sz="3200" dirty="0"/>
          </a:p>
        </p:txBody>
      </p:sp>
      <p:sp>
        <p:nvSpPr>
          <p:cNvPr id="4" name="Shape 2"/>
          <p:cNvSpPr/>
          <p:nvPr/>
        </p:nvSpPr>
        <p:spPr>
          <a:xfrm>
            <a:off x="548640" y="1554480"/>
            <a:ext cx="10881360" cy="1051560"/>
          </a:xfrm>
          <a:prstGeom prst="roundRect">
            <a:avLst>
              <a:gd name="adj" fmla="val 6957"/>
            </a:avLst>
          </a:prstGeom>
          <a:solidFill>
            <a:srgbClr val="EAF6F5"/>
          </a:solidFill>
          <a:ln/>
        </p:spPr>
      </p:sp>
      <p:sp>
        <p:nvSpPr>
          <p:cNvPr id="5" name="Text 3"/>
          <p:cNvSpPr txBox="1"/>
          <p:nvPr/>
        </p:nvSpPr>
        <p:spPr>
          <a:xfrm>
            <a:off x="868680" y="1700784"/>
            <a:ext cx="7772400" cy="457200"/>
          </a:xfrm>
          <a:prstGeom prst="rect">
            <a:avLst/>
          </a:prstGeom>
          <a:noFill/>
          <a:ln/>
        </p:spPr>
        <p:txBody>
          <a:bodyPr wrap="square" lIns="0" tIns="0" rIns="0" bIns="0" rtlCol="0" anchor="ctr"/>
          <a:lstStyle/>
          <a:p>
            <a:pPr indent="0" marL="0">
              <a:buNone/>
            </a:pPr>
            <a:r>
              <a:rPr lang="en-US" sz="2600" b="1" dirty="0">
                <a:solidFill>
                  <a:srgbClr val="0B2027"/>
                </a:solidFill>
                <a:latin typeface="Cambria" pitchFamily="34" charset="0"/>
                <a:ea typeface="Cambria" pitchFamily="34" charset="-122"/>
                <a:cs typeface="Cambria" pitchFamily="34" charset="-120"/>
              </a:rPr>
              <a:t>Raising: $40,000</a:t>
            </a:r>
            <a:endParaRPr lang="en-US" sz="2600" dirty="0"/>
          </a:p>
        </p:txBody>
      </p:sp>
      <p:sp>
        <p:nvSpPr>
          <p:cNvPr id="6" name="Text 4"/>
          <p:cNvSpPr txBox="1"/>
          <p:nvPr/>
        </p:nvSpPr>
        <p:spPr>
          <a:xfrm>
            <a:off x="868680" y="2194560"/>
            <a:ext cx="10241280" cy="365760"/>
          </a:xfrm>
          <a:prstGeom prst="rect">
            <a:avLst/>
          </a:prstGeom>
          <a:noFill/>
          <a:ln/>
        </p:spPr>
        <p:txBody>
          <a:bodyPr wrap="square" lIns="0" tIns="0" rIns="0" bIns="0" rtlCol="0" anchor="ctr"/>
          <a:lstStyle/>
          <a:p>
            <a:pPr indent="0" marL="0">
              <a:buNone/>
            </a:pPr>
            <a:r>
              <a:rPr lang="en-US" sz="1300" dirty="0">
                <a:solidFill>
                  <a:srgbClr val="6B8A87"/>
                </a:solidFill>
                <a:latin typeface="Calibri" pitchFamily="34" charset="0"/>
                <a:ea typeface="Calibri" pitchFamily="34" charset="-122"/>
                <a:cs typeface="Calibri" pitchFamily="34" charset="-120"/>
              </a:rPr>
              <a:t>Runway: 12 months     ·     Structure: SAFE (recommended for this stage)</a:t>
            </a:r>
            <a:endParaRPr lang="en-US" sz="1300" dirty="0"/>
          </a:p>
        </p:txBody>
      </p:sp>
      <p:sp>
        <p:nvSpPr>
          <p:cNvPr id="7" name="Shape 5"/>
          <p:cNvSpPr/>
          <p:nvPr/>
        </p:nvSpPr>
        <p:spPr>
          <a:xfrm>
            <a:off x="548640" y="2788920"/>
            <a:ext cx="420624" cy="420624"/>
          </a:xfrm>
          <a:prstGeom prst="ellipse">
            <a:avLst/>
          </a:prstGeom>
          <a:solidFill>
            <a:srgbClr val="028090"/>
          </a:solidFill>
          <a:ln/>
        </p:spPr>
      </p:sp>
      <p:pic>
        <p:nvPicPr>
          <p:cNvPr id="8" name="Image 0" descr="preencoded.png">    </p:cNvPr>
          <p:cNvPicPr>
            <a:picLocks noChangeAspect="1"/>
          </p:cNvPicPr>
          <p:nvPr/>
        </p:nvPicPr>
        <p:blipFill>
          <a:blip r:embed="rId1"/>
          <a:stretch>
            <a:fillRect/>
          </a:stretch>
        </p:blipFill>
        <p:spPr>
          <a:xfrm>
            <a:off x="603321" y="2843601"/>
            <a:ext cx="311262" cy="311262"/>
          </a:xfrm>
          <a:prstGeom prst="rect">
            <a:avLst/>
          </a:prstGeom>
        </p:spPr>
      </p:pic>
      <p:sp>
        <p:nvSpPr>
          <p:cNvPr id="9" name="Text 6"/>
          <p:cNvSpPr txBox="1"/>
          <p:nvPr/>
        </p:nvSpPr>
        <p:spPr>
          <a:xfrm>
            <a:off x="1143000" y="2761488"/>
            <a:ext cx="6035040" cy="292608"/>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First hire</a:t>
            </a:r>
            <a:endParaRPr lang="en-US" sz="1350" dirty="0"/>
          </a:p>
        </p:txBody>
      </p:sp>
      <p:sp>
        <p:nvSpPr>
          <p:cNvPr id="10" name="Text 7"/>
          <p:cNvSpPr txBox="1"/>
          <p:nvPr/>
        </p:nvSpPr>
        <p:spPr>
          <a:xfrm>
            <a:off x="9052560" y="2761488"/>
            <a:ext cx="2377440" cy="292608"/>
          </a:xfrm>
          <a:prstGeom prst="rect">
            <a:avLst/>
          </a:prstGeom>
          <a:noFill/>
          <a:ln/>
        </p:spPr>
        <p:txBody>
          <a:bodyPr wrap="square" lIns="0" tIns="0" rIns="0" bIns="0" rtlCol="0" anchor="ctr"/>
          <a:lstStyle/>
          <a:p>
            <a:pPr algn="r" indent="0" marL="0">
              <a:buNone/>
            </a:pPr>
            <a:r>
              <a:rPr lang="en-US" sz="1300" b="1" dirty="0">
                <a:solidFill>
                  <a:srgbClr val="028090"/>
                </a:solidFill>
                <a:latin typeface="Calibri" pitchFamily="34" charset="0"/>
                <a:ea typeface="Calibri" pitchFamily="34" charset="-122"/>
                <a:cs typeface="Calibri" pitchFamily="34" charset="-120"/>
              </a:rPr>
              <a:t>$15,000–$25,000</a:t>
            </a:r>
            <a:endParaRPr lang="en-US" sz="1300" dirty="0"/>
          </a:p>
        </p:txBody>
      </p:sp>
      <p:sp>
        <p:nvSpPr>
          <p:cNvPr id="11" name="Text 8"/>
          <p:cNvSpPr txBox="1"/>
          <p:nvPr/>
        </p:nvSpPr>
        <p:spPr>
          <a:xfrm>
            <a:off x="1143000" y="3054096"/>
            <a:ext cx="10287000" cy="310896"/>
          </a:xfrm>
          <a:prstGeom prst="rect">
            <a:avLst/>
          </a:prstGeom>
          <a:noFill/>
          <a:ln/>
        </p:spPr>
        <p:txBody>
          <a:bodyPr wrap="square" lIns="0" tIns="0" rIns="0" bIns="0" rtlCol="0" anchor="ctr"/>
          <a:lstStyle/>
          <a:p>
            <a:pPr indent="0" marL="0">
              <a:buNone/>
            </a:pPr>
            <a:r>
              <a:rPr lang="en-US" sz="1050" dirty="0">
                <a:solidFill>
                  <a:srgbClr val="27403F"/>
                </a:solidFill>
                <a:latin typeface="Calibri" pitchFamily="34" charset="0"/>
                <a:ea typeface="Calibri" pitchFamily="34" charset="-122"/>
                <a:cs typeface="Calibri" pitchFamily="34" charset="-120"/>
              </a:rPr>
              <a:t>A partnerships/compliance operator (or engineer) — removes single-founder key-person risk.</a:t>
            </a:r>
            <a:endParaRPr lang="en-US" sz="1050" dirty="0"/>
          </a:p>
        </p:txBody>
      </p:sp>
      <p:sp>
        <p:nvSpPr>
          <p:cNvPr id="12" name="Shape 9"/>
          <p:cNvSpPr/>
          <p:nvPr/>
        </p:nvSpPr>
        <p:spPr>
          <a:xfrm>
            <a:off x="548640" y="3392424"/>
            <a:ext cx="420624" cy="420624"/>
          </a:xfrm>
          <a:prstGeom prst="ellipse">
            <a:avLst/>
          </a:prstGeom>
          <a:solidFill>
            <a:srgbClr val="028090"/>
          </a:solidFill>
          <a:ln/>
        </p:spPr>
      </p:sp>
      <p:pic>
        <p:nvPicPr>
          <p:cNvPr id="13" name="Image 1" descr="preencoded.png">    </p:cNvPr>
          <p:cNvPicPr>
            <a:picLocks noChangeAspect="1"/>
          </p:cNvPicPr>
          <p:nvPr/>
        </p:nvPicPr>
        <p:blipFill>
          <a:blip r:embed="rId2"/>
          <a:stretch>
            <a:fillRect/>
          </a:stretch>
        </p:blipFill>
        <p:spPr>
          <a:xfrm>
            <a:off x="603321" y="3447105"/>
            <a:ext cx="311262" cy="311262"/>
          </a:xfrm>
          <a:prstGeom prst="rect">
            <a:avLst/>
          </a:prstGeom>
        </p:spPr>
      </p:pic>
      <p:sp>
        <p:nvSpPr>
          <p:cNvPr id="14" name="Text 10"/>
          <p:cNvSpPr txBox="1"/>
          <p:nvPr/>
        </p:nvSpPr>
        <p:spPr>
          <a:xfrm>
            <a:off x="1143000" y="3364992"/>
            <a:ext cx="6035040" cy="292608"/>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Legal &amp; compliance</a:t>
            </a:r>
            <a:endParaRPr lang="en-US" sz="1350" dirty="0"/>
          </a:p>
        </p:txBody>
      </p:sp>
      <p:sp>
        <p:nvSpPr>
          <p:cNvPr id="15" name="Text 11"/>
          <p:cNvSpPr txBox="1"/>
          <p:nvPr/>
        </p:nvSpPr>
        <p:spPr>
          <a:xfrm>
            <a:off x="9052560" y="3364992"/>
            <a:ext cx="2377440" cy="292608"/>
          </a:xfrm>
          <a:prstGeom prst="rect">
            <a:avLst/>
          </a:prstGeom>
          <a:noFill/>
          <a:ln/>
        </p:spPr>
        <p:txBody>
          <a:bodyPr wrap="square" lIns="0" tIns="0" rIns="0" bIns="0" rtlCol="0" anchor="ctr"/>
          <a:lstStyle/>
          <a:p>
            <a:pPr algn="r" indent="0" marL="0">
              <a:buNone/>
            </a:pPr>
            <a:r>
              <a:rPr lang="en-US" sz="1300" b="1" dirty="0">
                <a:solidFill>
                  <a:srgbClr val="028090"/>
                </a:solidFill>
                <a:latin typeface="Calibri" pitchFamily="34" charset="0"/>
                <a:ea typeface="Calibri" pitchFamily="34" charset="-122"/>
                <a:cs typeface="Calibri" pitchFamily="34" charset="-120"/>
              </a:rPr>
              <a:t>$3,000–$5,000</a:t>
            </a:r>
            <a:endParaRPr lang="en-US" sz="1300" dirty="0"/>
          </a:p>
        </p:txBody>
      </p:sp>
      <p:sp>
        <p:nvSpPr>
          <p:cNvPr id="16" name="Text 12"/>
          <p:cNvSpPr txBox="1"/>
          <p:nvPr/>
        </p:nvSpPr>
        <p:spPr>
          <a:xfrm>
            <a:off x="1143000" y="3657600"/>
            <a:ext cx="10287000" cy="310896"/>
          </a:xfrm>
          <a:prstGeom prst="rect">
            <a:avLst/>
          </a:prstGeom>
          <a:noFill/>
          <a:ln/>
        </p:spPr>
        <p:txBody>
          <a:bodyPr wrap="square" lIns="0" tIns="0" rIns="0" bIns="0" rtlCol="0" anchor="ctr"/>
          <a:lstStyle/>
          <a:p>
            <a:pPr indent="0" marL="0">
              <a:buNone/>
            </a:pPr>
            <a:r>
              <a:rPr lang="en-US" sz="1050" dirty="0">
                <a:solidFill>
                  <a:srgbClr val="27403F"/>
                </a:solidFill>
                <a:latin typeface="Calibri" pitchFamily="34" charset="0"/>
                <a:ea typeface="Calibri" pitchFamily="34" charset="-122"/>
                <a:cs typeface="Calibri" pitchFamily="34" charset="-120"/>
              </a:rPr>
              <a:t>An actual immigration-law opinion on OISC/CICC boundaries, plus Privacy Policy sign-off before sign-in ships.</a:t>
            </a:r>
            <a:endParaRPr lang="en-US" sz="1050" dirty="0"/>
          </a:p>
        </p:txBody>
      </p:sp>
      <p:sp>
        <p:nvSpPr>
          <p:cNvPr id="17" name="Shape 13"/>
          <p:cNvSpPr/>
          <p:nvPr/>
        </p:nvSpPr>
        <p:spPr>
          <a:xfrm>
            <a:off x="548640" y="3995928"/>
            <a:ext cx="420624" cy="420624"/>
          </a:xfrm>
          <a:prstGeom prst="ellipse">
            <a:avLst/>
          </a:prstGeom>
          <a:solidFill>
            <a:srgbClr val="028090"/>
          </a:solidFill>
          <a:ln/>
        </p:spPr>
      </p:sp>
      <p:pic>
        <p:nvPicPr>
          <p:cNvPr id="18" name="Image 2" descr="preencoded.png">    </p:cNvPr>
          <p:cNvPicPr>
            <a:picLocks noChangeAspect="1"/>
          </p:cNvPicPr>
          <p:nvPr/>
        </p:nvPicPr>
        <p:blipFill>
          <a:blip r:embed="rId3"/>
          <a:stretch>
            <a:fillRect/>
          </a:stretch>
        </p:blipFill>
        <p:spPr>
          <a:xfrm>
            <a:off x="603321" y="4050609"/>
            <a:ext cx="311262" cy="311262"/>
          </a:xfrm>
          <a:prstGeom prst="rect">
            <a:avLst/>
          </a:prstGeom>
        </p:spPr>
      </p:pic>
      <p:sp>
        <p:nvSpPr>
          <p:cNvPr id="19" name="Text 14"/>
          <p:cNvSpPr txBox="1"/>
          <p:nvPr/>
        </p:nvSpPr>
        <p:spPr>
          <a:xfrm>
            <a:off x="1143000" y="3968496"/>
            <a:ext cx="6035040" cy="292608"/>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Partnerships &amp; outreach</a:t>
            </a:r>
            <a:endParaRPr lang="en-US" sz="1350" dirty="0"/>
          </a:p>
        </p:txBody>
      </p:sp>
      <p:sp>
        <p:nvSpPr>
          <p:cNvPr id="20" name="Text 15"/>
          <p:cNvSpPr txBox="1"/>
          <p:nvPr/>
        </p:nvSpPr>
        <p:spPr>
          <a:xfrm>
            <a:off x="9052560" y="3968496"/>
            <a:ext cx="2377440" cy="292608"/>
          </a:xfrm>
          <a:prstGeom prst="rect">
            <a:avLst/>
          </a:prstGeom>
          <a:noFill/>
          <a:ln/>
        </p:spPr>
        <p:txBody>
          <a:bodyPr wrap="square" lIns="0" tIns="0" rIns="0" bIns="0" rtlCol="0" anchor="ctr"/>
          <a:lstStyle/>
          <a:p>
            <a:pPr algn="r" indent="0" marL="0">
              <a:buNone/>
            </a:pPr>
            <a:r>
              <a:rPr lang="en-US" sz="1300" b="1" dirty="0">
                <a:solidFill>
                  <a:srgbClr val="028090"/>
                </a:solidFill>
                <a:latin typeface="Calibri" pitchFamily="34" charset="0"/>
                <a:ea typeface="Calibri" pitchFamily="34" charset="-122"/>
                <a:cs typeface="Calibri" pitchFamily="34" charset="-120"/>
              </a:rPr>
              <a:t>$4,000–$6,000</a:t>
            </a:r>
            <a:endParaRPr lang="en-US" sz="1300" dirty="0"/>
          </a:p>
        </p:txBody>
      </p:sp>
      <p:sp>
        <p:nvSpPr>
          <p:cNvPr id="21" name="Text 16"/>
          <p:cNvSpPr txBox="1"/>
          <p:nvPr/>
        </p:nvSpPr>
        <p:spPr>
          <a:xfrm>
            <a:off x="1143000" y="4261104"/>
            <a:ext cx="10287000" cy="310896"/>
          </a:xfrm>
          <a:prstGeom prst="rect">
            <a:avLst/>
          </a:prstGeom>
          <a:noFill/>
          <a:ln/>
        </p:spPr>
        <p:txBody>
          <a:bodyPr wrap="square" lIns="0" tIns="0" rIns="0" bIns="0" rtlCol="0" anchor="ctr"/>
          <a:lstStyle/>
          <a:p>
            <a:pPr indent="0" marL="0">
              <a:buNone/>
            </a:pPr>
            <a:r>
              <a:rPr lang="en-US" sz="1050" dirty="0">
                <a:solidFill>
                  <a:srgbClr val="27403F"/>
                </a:solidFill>
                <a:latin typeface="Calibri" pitchFamily="34" charset="0"/>
                <a:ea typeface="Calibri" pitchFamily="34" charset="-122"/>
                <a:cs typeface="Calibri" pitchFamily="34" charset="-120"/>
              </a:rPr>
              <a:t>In-person outreach to NANTA agencies and licensed advisers — closing the first real pilot.</a:t>
            </a:r>
            <a:endParaRPr lang="en-US" sz="1050" dirty="0"/>
          </a:p>
        </p:txBody>
      </p:sp>
      <p:sp>
        <p:nvSpPr>
          <p:cNvPr id="22" name="Shape 17"/>
          <p:cNvSpPr/>
          <p:nvPr/>
        </p:nvSpPr>
        <p:spPr>
          <a:xfrm>
            <a:off x="548640" y="4599432"/>
            <a:ext cx="420624" cy="420624"/>
          </a:xfrm>
          <a:prstGeom prst="ellipse">
            <a:avLst/>
          </a:prstGeom>
          <a:solidFill>
            <a:srgbClr val="028090"/>
          </a:solidFill>
          <a:ln/>
        </p:spPr>
      </p:sp>
      <p:pic>
        <p:nvPicPr>
          <p:cNvPr id="23" name="Image 3" descr="preencoded.png">    </p:cNvPr>
          <p:cNvPicPr>
            <a:picLocks noChangeAspect="1"/>
          </p:cNvPicPr>
          <p:nvPr/>
        </p:nvPicPr>
        <p:blipFill>
          <a:blip r:embed="rId4"/>
          <a:stretch>
            <a:fillRect/>
          </a:stretch>
        </p:blipFill>
        <p:spPr>
          <a:xfrm>
            <a:off x="603321" y="4654113"/>
            <a:ext cx="311262" cy="311262"/>
          </a:xfrm>
          <a:prstGeom prst="rect">
            <a:avLst/>
          </a:prstGeom>
        </p:spPr>
      </p:pic>
      <p:sp>
        <p:nvSpPr>
          <p:cNvPr id="24" name="Text 18"/>
          <p:cNvSpPr txBox="1"/>
          <p:nvPr/>
        </p:nvSpPr>
        <p:spPr>
          <a:xfrm>
            <a:off x="1143000" y="4572000"/>
            <a:ext cx="6035040" cy="292608"/>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Product &amp; infrastructure</a:t>
            </a:r>
            <a:endParaRPr lang="en-US" sz="1350" dirty="0"/>
          </a:p>
        </p:txBody>
      </p:sp>
      <p:sp>
        <p:nvSpPr>
          <p:cNvPr id="25" name="Text 19"/>
          <p:cNvSpPr txBox="1"/>
          <p:nvPr/>
        </p:nvSpPr>
        <p:spPr>
          <a:xfrm>
            <a:off x="9052560" y="4572000"/>
            <a:ext cx="2377440" cy="292608"/>
          </a:xfrm>
          <a:prstGeom prst="rect">
            <a:avLst/>
          </a:prstGeom>
          <a:noFill/>
          <a:ln/>
        </p:spPr>
        <p:txBody>
          <a:bodyPr wrap="square" lIns="0" tIns="0" rIns="0" bIns="0" rtlCol="0" anchor="ctr"/>
          <a:lstStyle/>
          <a:p>
            <a:pPr algn="r" indent="0" marL="0">
              <a:buNone/>
            </a:pPr>
            <a:r>
              <a:rPr lang="en-US" sz="1300" b="1" dirty="0">
                <a:solidFill>
                  <a:srgbClr val="028090"/>
                </a:solidFill>
                <a:latin typeface="Calibri" pitchFamily="34" charset="0"/>
                <a:ea typeface="Calibri" pitchFamily="34" charset="-122"/>
                <a:cs typeface="Calibri" pitchFamily="34" charset="-120"/>
              </a:rPr>
              <a:t>$6,000–$8,000</a:t>
            </a:r>
            <a:endParaRPr lang="en-US" sz="1300" dirty="0"/>
          </a:p>
        </p:txBody>
      </p:sp>
      <p:sp>
        <p:nvSpPr>
          <p:cNvPr id="26" name="Text 20"/>
          <p:cNvSpPr txBox="1"/>
          <p:nvPr/>
        </p:nvSpPr>
        <p:spPr>
          <a:xfrm>
            <a:off x="1143000" y="4864608"/>
            <a:ext cx="10287000" cy="310896"/>
          </a:xfrm>
          <a:prstGeom prst="rect">
            <a:avLst/>
          </a:prstGeom>
          <a:noFill/>
          <a:ln/>
        </p:spPr>
        <p:txBody>
          <a:bodyPr wrap="square" lIns="0" tIns="0" rIns="0" bIns="0" rtlCol="0" anchor="ctr"/>
          <a:lstStyle/>
          <a:p>
            <a:pPr indent="0" marL="0">
              <a:buNone/>
            </a:pPr>
            <a:r>
              <a:rPr lang="en-US" sz="1050" dirty="0">
                <a:solidFill>
                  <a:srgbClr val="27403F"/>
                </a:solidFill>
                <a:latin typeface="Calibri" pitchFamily="34" charset="0"/>
                <a:ea typeface="Calibri" pitchFamily="34" charset="-122"/>
                <a:cs typeface="Calibri" pitchFamily="34" charset="-120"/>
              </a:rPr>
              <a:t>Supabase/Vercel costs for cross-device accounts, plus a fallback paid OCR path for hard scans.</a:t>
            </a:r>
            <a:endParaRPr lang="en-US" sz="1050" dirty="0"/>
          </a:p>
        </p:txBody>
      </p:sp>
      <p:sp>
        <p:nvSpPr>
          <p:cNvPr id="27" name="Shape 21"/>
          <p:cNvSpPr/>
          <p:nvPr/>
        </p:nvSpPr>
        <p:spPr>
          <a:xfrm>
            <a:off x="548640" y="5202936"/>
            <a:ext cx="420624" cy="420624"/>
          </a:xfrm>
          <a:prstGeom prst="ellipse">
            <a:avLst/>
          </a:prstGeom>
          <a:solidFill>
            <a:srgbClr val="028090"/>
          </a:solidFill>
          <a:ln/>
        </p:spPr>
      </p:sp>
      <p:pic>
        <p:nvPicPr>
          <p:cNvPr id="28" name="Image 4" descr="preencoded.png">    </p:cNvPr>
          <p:cNvPicPr>
            <a:picLocks noChangeAspect="1"/>
          </p:cNvPicPr>
          <p:nvPr/>
        </p:nvPicPr>
        <p:blipFill>
          <a:blip r:embed="rId5"/>
          <a:stretch>
            <a:fillRect/>
          </a:stretch>
        </p:blipFill>
        <p:spPr>
          <a:xfrm>
            <a:off x="603321" y="5257617"/>
            <a:ext cx="311262" cy="311262"/>
          </a:xfrm>
          <a:prstGeom prst="rect">
            <a:avLst/>
          </a:prstGeom>
        </p:spPr>
      </p:pic>
      <p:sp>
        <p:nvSpPr>
          <p:cNvPr id="29" name="Text 22"/>
          <p:cNvSpPr txBox="1"/>
          <p:nvPr/>
        </p:nvSpPr>
        <p:spPr>
          <a:xfrm>
            <a:off x="1143000" y="5175504"/>
            <a:ext cx="6035040" cy="292608"/>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Paid acquisition test</a:t>
            </a:r>
            <a:endParaRPr lang="en-US" sz="1350" dirty="0"/>
          </a:p>
        </p:txBody>
      </p:sp>
      <p:sp>
        <p:nvSpPr>
          <p:cNvPr id="30" name="Text 23"/>
          <p:cNvSpPr txBox="1"/>
          <p:nvPr/>
        </p:nvSpPr>
        <p:spPr>
          <a:xfrm>
            <a:off x="9052560" y="5175504"/>
            <a:ext cx="2377440" cy="292608"/>
          </a:xfrm>
          <a:prstGeom prst="rect">
            <a:avLst/>
          </a:prstGeom>
          <a:noFill/>
          <a:ln/>
        </p:spPr>
        <p:txBody>
          <a:bodyPr wrap="square" lIns="0" tIns="0" rIns="0" bIns="0" rtlCol="0" anchor="ctr"/>
          <a:lstStyle/>
          <a:p>
            <a:pPr algn="r" indent="0" marL="0">
              <a:buNone/>
            </a:pPr>
            <a:r>
              <a:rPr lang="en-US" sz="1300" b="1" dirty="0">
                <a:solidFill>
                  <a:srgbClr val="028090"/>
                </a:solidFill>
                <a:latin typeface="Calibri" pitchFamily="34" charset="0"/>
                <a:ea typeface="Calibri" pitchFamily="34" charset="-122"/>
                <a:cs typeface="Calibri" pitchFamily="34" charset="-120"/>
              </a:rPr>
              <a:t>$5,000–$8,000</a:t>
            </a:r>
            <a:endParaRPr lang="en-US" sz="1300" dirty="0"/>
          </a:p>
        </p:txBody>
      </p:sp>
      <p:sp>
        <p:nvSpPr>
          <p:cNvPr id="31" name="Text 24"/>
          <p:cNvSpPr txBox="1"/>
          <p:nvPr/>
        </p:nvSpPr>
        <p:spPr>
          <a:xfrm>
            <a:off x="1143000" y="5468112"/>
            <a:ext cx="10287000" cy="310896"/>
          </a:xfrm>
          <a:prstGeom prst="rect">
            <a:avLst/>
          </a:prstGeom>
          <a:noFill/>
          <a:ln/>
        </p:spPr>
        <p:txBody>
          <a:bodyPr wrap="square" lIns="0" tIns="0" rIns="0" bIns="0" rtlCol="0" anchor="ctr"/>
          <a:lstStyle/>
          <a:p>
            <a:pPr indent="0" marL="0">
              <a:buNone/>
            </a:pPr>
            <a:r>
              <a:rPr lang="en-US" sz="1050" dirty="0">
                <a:solidFill>
                  <a:srgbClr val="27403F"/>
                </a:solidFill>
                <a:latin typeface="Calibri" pitchFamily="34" charset="0"/>
                <a:ea typeface="Calibri" pitchFamily="34" charset="-122"/>
                <a:cs typeface="Calibri" pitchFamily="34" charset="-120"/>
              </a:rPr>
              <a:t>A measured budget to test reaccelerating the traffic curve shown on the Traction slide.</a:t>
            </a:r>
            <a:endParaRPr lang="en-US" sz="1050" dirty="0"/>
          </a:p>
        </p:txBody>
      </p:sp>
      <p:sp>
        <p:nvSpPr>
          <p:cNvPr id="32" name="Text 25"/>
          <p:cNvSpPr txBox="1"/>
          <p:nvPr/>
        </p:nvSpPr>
        <p:spPr>
          <a:xfrm>
            <a:off x="548640" y="5861304"/>
            <a:ext cx="10515600" cy="320040"/>
          </a:xfrm>
          <a:prstGeom prst="rect">
            <a:avLst/>
          </a:prstGeom>
          <a:noFill/>
          <a:ln/>
        </p:spPr>
        <p:txBody>
          <a:bodyPr wrap="square" lIns="0" tIns="0" rIns="0" bIns="0" rtlCol="0" anchor="ctr"/>
          <a:lstStyle/>
          <a:p>
            <a:pPr indent="0" marL="0">
              <a:buNone/>
            </a:pPr>
            <a:r>
              <a:rPr lang="en-US" sz="1050" i="1" dirty="0">
                <a:solidFill>
                  <a:srgbClr val="6B8A87"/>
                </a:solidFill>
                <a:latin typeface="Calibri" pitchFamily="34" charset="0"/>
                <a:ea typeface="Calibri" pitchFamily="34" charset="-122"/>
                <a:cs typeface="Calibri" pitchFamily="34" charset="-120"/>
              </a:rPr>
              <a:t>Excludes founder living costs — sized separately and added to the total before presenting.</a:t>
            </a:r>
            <a:endParaRPr lang="en-US" sz="1050" dirty="0"/>
          </a:p>
        </p:txBody>
      </p:sp>
      <p:sp>
        <p:nvSpPr>
          <p:cNvPr id="33" name="Text 26"/>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34" name="Text 27"/>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REVENUE PROJECTION</a:t>
            </a:r>
            <a:endParaRPr lang="en-US" sz="13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indent="0" marL="0">
              <a:buNone/>
            </a:pPr>
            <a:r>
              <a:rPr lang="en-US" sz="2800" b="1" dirty="0">
                <a:solidFill>
                  <a:srgbClr val="0B2027"/>
                </a:solidFill>
                <a:latin typeface="Cambria" pitchFamily="34" charset="0"/>
                <a:ea typeface="Cambria" pitchFamily="34" charset="-122"/>
                <a:cs typeface="Cambria" pitchFamily="34" charset="-120"/>
              </a:rPr>
              <a:t>A deliberately modest, assumption-driven ramp</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858000" cy="2011680"/>
        </p:xfrm>
        <a:graphic>
          <a:graphicData uri="http://schemas.openxmlformats.org/drawingml/2006/table">
            <a:tbl>
              <a:tblPr/>
              <a:tblGrid>
                <a:gridCol w="2194560"/>
                <a:gridCol w="932688"/>
                <a:gridCol w="932688"/>
                <a:gridCol w="932688"/>
                <a:gridCol w="932688"/>
                <a:gridCol w="932688"/>
              </a:tblGrid>
              <a:tr h="402336">
                <a:tc>
                  <a:txBody>
                    <a:bodyPr/>
                    <a:lstStyle/>
                    <a:p>
                      <a:pPr algn="l" indent="0" marL="0">
                        <a:buNone/>
                      </a:pPr>
                      <a:r>
                        <a:rPr lang="en-US" sz="1150" b="1" dirty="0">
                          <a:solidFill>
                            <a:srgbClr val="FFFFFF"/>
                          </a:solidFill>
                        </a:rPr>
                        <a:t>Revenue stream</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rPr>
                        <a:t>Q1</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rPr>
                        <a:t>Q2</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rPr>
                        <a:t>Q3</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rPr>
                        <a:t>Q4</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rPr>
                        <a:t>12-mo total</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028090"/>
                    </a:solidFill>
                  </a:tcPr>
                </a:tc>
              </a:tr>
              <a:tr h="402336">
                <a:tc>
                  <a:txBody>
                    <a:bodyPr/>
                    <a:lstStyle/>
                    <a:p>
                      <a:pPr algn="l" indent="0" marL="0">
                        <a:buNone/>
                      </a:pPr>
                      <a:r>
                        <a:rPr lang="en-US" sz="1150" dirty="0">
                          <a:solidFill>
                            <a:srgbClr val="27403F"/>
                          </a:solidFill>
                        </a:rPr>
                        <a:t>B2B licensing</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$300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$1,180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$2,500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$3,980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r>
              <a:tr h="402336">
                <a:tc>
                  <a:txBody>
                    <a:bodyPr/>
                    <a:lstStyle/>
                    <a:p>
                      <a:pPr algn="l" indent="0" marL="0">
                        <a:buNone/>
                      </a:pPr>
                      <a:r>
                        <a:rPr lang="en-US" sz="1150" dirty="0">
                          <a:solidFill>
                            <a:srgbClr val="27403F"/>
                          </a:solidFill>
                        </a:rPr>
                        <a:t>Referral fees</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$180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$740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$1,580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$2,500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r>
              <a:tr h="402336">
                <a:tc>
                  <a:txBody>
                    <a:bodyPr/>
                    <a:lstStyle/>
                    <a:p>
                      <a:pPr algn="l" indent="0" marL="0">
                        <a:buNone/>
                      </a:pPr>
                      <a:r>
                        <a:rPr lang="en-US" sz="1150" dirty="0">
                          <a:solidFill>
                            <a:srgbClr val="27403F"/>
                          </a:solidFill>
                        </a:rPr>
                        <a:t>Affiliate commerce</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$60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$240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c>
                  <a:txBody>
                    <a:bodyPr/>
                    <a:lstStyle/>
                    <a:p>
                      <a:pPr algn="ctr" indent="0" marL="0">
                        <a:buNone/>
                      </a:pPr>
                      <a:r>
                        <a:rPr lang="en-US" sz="1150" dirty="0">
                          <a:solidFill>
                            <a:srgbClr val="27403F"/>
                          </a:solidFill>
                        </a:rPr>
                        <a:t>$300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tcPr>
                </a:tc>
              </a:tr>
              <a:tr h="402336">
                <a:tc>
                  <a:txBody>
                    <a:bodyPr/>
                    <a:lstStyle/>
                    <a:p>
                      <a:pPr algn="l" indent="0" marL="0">
                        <a:buNone/>
                      </a:pPr>
                      <a:r>
                        <a:rPr lang="en-US" sz="1150" b="1" dirty="0">
                          <a:solidFill>
                            <a:srgbClr val="0B2027"/>
                          </a:solidFill>
                        </a:rPr>
                        <a:t>Total</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c>
                  <a:txBody>
                    <a:bodyPr/>
                    <a:lstStyle/>
                    <a:p>
                      <a:pPr algn="ctr" indent="0" marL="0">
                        <a:buNone/>
                      </a:pPr>
                      <a:r>
                        <a:rPr lang="en-US" sz="1150" b="1" dirty="0">
                          <a:solidFill>
                            <a:srgbClr val="0B2027"/>
                          </a:solidFill>
                        </a:rPr>
                        <a:t>$0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c>
                  <a:txBody>
                    <a:bodyPr/>
                    <a:lstStyle/>
                    <a:p>
                      <a:pPr algn="ctr" indent="0" marL="0">
                        <a:buNone/>
                      </a:pPr>
                      <a:r>
                        <a:rPr lang="en-US" sz="1150" b="1" dirty="0">
                          <a:solidFill>
                            <a:srgbClr val="0B2027"/>
                          </a:solidFill>
                        </a:rPr>
                        <a:t>$480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c>
                  <a:txBody>
                    <a:bodyPr/>
                    <a:lstStyle/>
                    <a:p>
                      <a:pPr algn="ctr" indent="0" marL="0">
                        <a:buNone/>
                      </a:pPr>
                      <a:r>
                        <a:rPr lang="en-US" sz="1150" b="1" dirty="0">
                          <a:solidFill>
                            <a:srgbClr val="0B2027"/>
                          </a:solidFill>
                        </a:rPr>
                        <a:t>$1,980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c>
                  <a:txBody>
                    <a:bodyPr/>
                    <a:lstStyle/>
                    <a:p>
                      <a:pPr algn="ctr" indent="0" marL="0">
                        <a:buNone/>
                      </a:pPr>
                      <a:r>
                        <a:rPr lang="en-US" sz="1150" b="1" dirty="0">
                          <a:solidFill>
                            <a:srgbClr val="0B2027"/>
                          </a:solidFill>
                        </a:rPr>
                        <a:t>$4,320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c>
                  <a:txBody>
                    <a:bodyPr/>
                    <a:lstStyle/>
                    <a:p>
                      <a:pPr algn="ctr" indent="0" marL="0">
                        <a:buNone/>
                      </a:pPr>
                      <a:r>
                        <a:rPr lang="en-US" sz="1150" b="1" dirty="0">
                          <a:solidFill>
                            <a:srgbClr val="0B2027"/>
                          </a:solidFill>
                        </a:rPr>
                        <a:t>$6,780</a:t>
                      </a:r>
                      <a:endParaRPr lang="en-US" sz="1150" dirty="0"/>
                    </a:p>
                  </a:txBody>
                  <a:tcPr marL="76200" marR="76200" marT="38100" marB="38100" anchor="ctr">
                    <a:lnL w="9525" cap="flat" cmpd="sng" algn="ctr">
                      <a:solidFill>
                        <a:srgbClr val="D8E8E7"/>
                      </a:solidFill>
                      <a:prstDash val="solid"/>
                      <a:round/>
                      <a:headEnd type="none" w="med" len="med"/>
                      <a:tailEnd type="none" w="med" len="med"/>
                    </a:lnL>
                    <a:lnR w="9525" cap="flat" cmpd="sng" algn="ctr">
                      <a:solidFill>
                        <a:srgbClr val="D8E8E7"/>
                      </a:solidFill>
                      <a:prstDash val="solid"/>
                      <a:round/>
                      <a:headEnd type="none" w="med" len="med"/>
                      <a:tailEnd type="none" w="med" len="med"/>
                    </a:lnR>
                    <a:lnT w="9525" cap="flat" cmpd="sng" algn="ctr">
                      <a:solidFill>
                        <a:srgbClr val="D8E8E7"/>
                      </a:solidFill>
                      <a:prstDash val="solid"/>
                      <a:round/>
                      <a:headEnd type="none" w="med" len="med"/>
                      <a:tailEnd type="none" w="med" len="med"/>
                    </a:lnT>
                    <a:lnB w="9525" cap="flat" cmpd="sng" algn="ctr">
                      <a:solidFill>
                        <a:srgbClr val="D8E8E7"/>
                      </a:solidFill>
                      <a:prstDash val="solid"/>
                      <a:round/>
                      <a:headEnd type="none" w="med" len="med"/>
                      <a:tailEnd type="none" w="med" len="med"/>
                    </a:lnB>
                    <a:solidFill>
                      <a:srgbClr val="EAF6F5"/>
                    </a:solidFill>
                  </a:tcPr>
                </a:tc>
              </a:tr>
            </a:tbl>
          </a:graphicData>
        </a:graphic>
      </p:graphicFrame>
      <p:graphicFrame>
        <p:nvGraphicFramePr>
          <p:cNvPr id="5" name="Chart 0" descr=""/>
          <p:cNvGraphicFramePr/>
          <p:nvPr/>
        </p:nvGraphicFramePr>
        <p:xfrm>
          <a:off x="7635240" y="1554480"/>
          <a:ext cx="3977640" cy="20116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3794760"/>
            <a:ext cx="11064240" cy="1005840"/>
          </a:xfrm>
          <a:prstGeom prst="rect">
            <a:avLst/>
          </a:prstGeom>
          <a:noFill/>
          <a:ln/>
        </p:spPr>
        <p:txBody>
          <a:bodyPr wrap="square" lIns="0" tIns="0" rIns="0" bIns="0" rtlCol="0" anchor="ctr"/>
          <a:lstStyle/>
          <a:p>
            <a:pPr indent="0" marL="0">
              <a:lnSpc>
                <a:spcPct val="125000"/>
              </a:lnSpc>
              <a:buNone/>
            </a:pPr>
            <a:r>
              <a:rPr lang="en-US" sz="1200" dirty="0">
                <a:solidFill>
                  <a:srgbClr val="27403F"/>
                </a:solidFill>
                <a:latin typeface="Calibri" pitchFamily="34" charset="0"/>
                <a:ea typeface="Calibri" pitchFamily="34" charset="-122"/>
                <a:cs typeface="Calibri" pitchFamily="34" charset="-120"/>
              </a:rPr>
              <a:t>Assumptions: $49/mo per B2B seat (illustrative — to validate), a $15 flat referral fee per introduction, and roughly $4 average affiliate commission per conversion. Q1 is deliberately $0 — that quarter funds the legal review, first hire and outreach, before any pilot closes. The ramp reaches 22 B2B seats, ~45 referrals/month and ~30 affiliate conversions/month by month 12.</a:t>
            </a:r>
            <a:endParaRPr lang="en-US" sz="1200" dirty="0"/>
          </a:p>
        </p:txBody>
      </p:sp>
      <p:sp>
        <p:nvSpPr>
          <p:cNvPr id="7" name="Text 3"/>
          <p:cNvSpPr txBox="1"/>
          <p:nvPr/>
        </p:nvSpPr>
        <p:spPr>
          <a:xfrm>
            <a:off x="548640" y="4892040"/>
            <a:ext cx="11064240" cy="640080"/>
          </a:xfrm>
          <a:prstGeom prst="rect">
            <a:avLst/>
          </a:prstGeom>
          <a:noFill/>
          <a:ln/>
        </p:spPr>
        <p:txBody>
          <a:bodyPr wrap="square" lIns="0" tIns="0" rIns="0" bIns="0" rtlCol="0" anchor="ctr"/>
          <a:lstStyle/>
          <a:p>
            <a:pPr indent="0" marL="0">
              <a:lnSpc>
                <a:spcPct val="120000"/>
              </a:lnSpc>
              <a:buNone/>
            </a:pPr>
            <a:r>
              <a:rPr lang="en-US" sz="1300" i="1" dirty="0">
                <a:solidFill>
                  <a:srgbClr val="6B8A87"/>
                </a:solidFill>
                <a:latin typeface="Calibri" pitchFamily="34" charset="0"/>
                <a:ea typeface="Calibri" pitchFamily="34" charset="-122"/>
                <a:cs typeface="Calibri" pitchFamily="34" charset="-120"/>
              </a:rPr>
              <a:t>The point of year one isn't revenue — it's proving these three price points hold up with real partners, so a seed round can scale distribution with confidence.</a:t>
            </a:r>
            <a:endParaRPr lang="en-US" sz="1300" dirty="0"/>
          </a:p>
        </p:txBody>
      </p:sp>
      <p:sp>
        <p:nvSpPr>
          <p:cNvPr id="8" name="Text 4"/>
          <p:cNvSpPr txBox="1"/>
          <p:nvPr/>
        </p:nvSpPr>
        <p:spPr>
          <a:xfrm>
            <a:off x="457200" y="6446520"/>
            <a:ext cx="3657600" cy="274320"/>
          </a:xfrm>
          <a:prstGeom prst="rect">
            <a:avLst/>
          </a:prstGeom>
          <a:noFill/>
          <a:ln/>
        </p:spPr>
        <p:txBody>
          <a:bodyPr wrap="square" lIns="0" tIns="0" rIns="0" bIns="0" rtlCol="0" anchor="ctr"/>
          <a:lstStyle/>
          <a:p>
            <a:pPr indent="0" marL="0">
              <a:buNone/>
            </a:pPr>
            <a:r>
              <a:rPr lang="en-US" sz="900" spc="100" kern="0" dirty="0">
                <a:solidFill>
                  <a:srgbClr val="6B8A87"/>
                </a:solidFill>
                <a:latin typeface="Calibri" pitchFamily="34" charset="0"/>
                <a:ea typeface="Calibri" pitchFamily="34" charset="-122"/>
                <a:cs typeface="Calibri" pitchFamily="34" charset="-120"/>
              </a:rPr>
              <a:t>SMOOTH APPLICATION</a:t>
            </a:r>
            <a:endParaRPr lang="en-US" sz="900" dirty="0"/>
          </a:p>
        </p:txBody>
      </p:sp>
      <p:sp>
        <p:nvSpPr>
          <p:cNvPr id="9" name="Text 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6B8A8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1645920" y="-1645920"/>
            <a:ext cx="4206240" cy="4206240"/>
          </a:xfrm>
          <a:prstGeom prst="ellipse">
            <a:avLst/>
          </a:prstGeom>
          <a:solidFill>
            <a:srgbClr val="028090">
              <a:alpha val="22000"/>
            </a:srgbClr>
          </a:solidFill>
          <a:ln/>
        </p:spPr>
      </p:sp>
      <p:sp>
        <p:nvSpPr>
          <p:cNvPr id="3" name="Text 1"/>
          <p:cNvSpPr txBox="1"/>
          <p:nvPr/>
        </p:nvSpPr>
        <p:spPr>
          <a:xfrm>
            <a:off x="731520" y="2011680"/>
            <a:ext cx="1069848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 applicant deserves a clear, honest shot at approval.</a:t>
            </a:r>
            <a:endParaRPr lang="en-US" sz="3400" dirty="0"/>
          </a:p>
        </p:txBody>
      </p:sp>
      <p:sp>
        <p:nvSpPr>
          <p:cNvPr id="4" name="Text 2"/>
          <p:cNvSpPr txBox="1"/>
          <p:nvPr/>
        </p:nvSpPr>
        <p:spPr>
          <a:xfrm>
            <a:off x="731520" y="3429000"/>
            <a:ext cx="1005840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Free forever for applicants. Built on trust that doesn't have to be taken on faith.</a:t>
            </a:r>
            <a:endParaRPr lang="en-US" sz="1600" dirty="0"/>
          </a:p>
        </p:txBody>
      </p:sp>
      <p:sp>
        <p:nvSpPr>
          <p:cNvPr id="5" name="Shape 3"/>
          <p:cNvSpPr/>
          <p:nvPr/>
        </p:nvSpPr>
        <p:spPr>
          <a:xfrm>
            <a:off x="731520" y="4663440"/>
            <a:ext cx="457200" cy="457200"/>
          </a:xfrm>
          <a:prstGeom prst="ellipse">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790956" y="4722876"/>
            <a:ext cx="338328" cy="338328"/>
          </a:xfrm>
          <a:prstGeom prst="rect">
            <a:avLst/>
          </a:prstGeom>
        </p:spPr>
      </p:pic>
      <p:sp>
        <p:nvSpPr>
          <p:cNvPr id="7" name="Text 4"/>
          <p:cNvSpPr txBox="1"/>
          <p:nvPr/>
        </p:nvSpPr>
        <p:spPr>
          <a:xfrm>
            <a:off x="1325880" y="4736592"/>
            <a:ext cx="3657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lalasionline@gmail.com</a:t>
            </a:r>
            <a:endParaRPr lang="en-US" sz="1300" dirty="0"/>
          </a:p>
        </p:txBody>
      </p:sp>
      <p:sp>
        <p:nvSpPr>
          <p:cNvPr id="8" name="Shape 5"/>
          <p:cNvSpPr/>
          <p:nvPr/>
        </p:nvSpPr>
        <p:spPr>
          <a:xfrm>
            <a:off x="731520" y="5257800"/>
            <a:ext cx="457200" cy="457200"/>
          </a:xfrm>
          <a:prstGeom prst="ellipse">
            <a:avLst/>
          </a:prstGeom>
          <a:solidFill>
            <a:srgbClr val="02C39A"/>
          </a:solidFill>
          <a:ln/>
        </p:spPr>
      </p:sp>
      <p:pic>
        <p:nvPicPr>
          <p:cNvPr id="9" name="Image 1" descr="preencoded.png">    </p:cNvPr>
          <p:cNvPicPr>
            <a:picLocks noChangeAspect="1"/>
          </p:cNvPicPr>
          <p:nvPr/>
        </p:nvPicPr>
        <p:blipFill>
          <a:blip r:embed="rId2"/>
          <a:stretch>
            <a:fillRect/>
          </a:stretch>
        </p:blipFill>
        <p:spPr>
          <a:xfrm>
            <a:off x="790956" y="5317236"/>
            <a:ext cx="338328" cy="338328"/>
          </a:xfrm>
          <a:prstGeom prst="rect">
            <a:avLst/>
          </a:prstGeom>
        </p:spPr>
      </p:pic>
      <p:sp>
        <p:nvSpPr>
          <p:cNvPr id="10" name="Text 6"/>
          <p:cNvSpPr txBox="1"/>
          <p:nvPr/>
        </p:nvSpPr>
        <p:spPr>
          <a:xfrm>
            <a:off x="1325880" y="5330952"/>
            <a:ext cx="3657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wa.me/2349081389969</a:t>
            </a:r>
            <a:endParaRPr lang="en-US" sz="1300" dirty="0"/>
          </a:p>
        </p:txBody>
      </p:sp>
      <p:sp>
        <p:nvSpPr>
          <p:cNvPr id="11" name="Shape 7"/>
          <p:cNvSpPr/>
          <p:nvPr/>
        </p:nvSpPr>
        <p:spPr>
          <a:xfrm>
            <a:off x="731520" y="5852160"/>
            <a:ext cx="457200" cy="457200"/>
          </a:xfrm>
          <a:prstGeom prst="ellipse">
            <a:avLst/>
          </a:prstGeom>
          <a:solidFill>
            <a:srgbClr val="00A896"/>
          </a:solidFill>
          <a:ln/>
        </p:spPr>
      </p:sp>
      <p:pic>
        <p:nvPicPr>
          <p:cNvPr id="12" name="Image 2" descr="preencoded.png">    </p:cNvPr>
          <p:cNvPicPr>
            <a:picLocks noChangeAspect="1"/>
          </p:cNvPicPr>
          <p:nvPr/>
        </p:nvPicPr>
        <p:blipFill>
          <a:blip r:embed="rId3"/>
          <a:stretch>
            <a:fillRect/>
          </a:stretch>
        </p:blipFill>
        <p:spPr>
          <a:xfrm>
            <a:off x="790956" y="5911596"/>
            <a:ext cx="338328" cy="338328"/>
          </a:xfrm>
          <a:prstGeom prst="rect">
            <a:avLst/>
          </a:prstGeom>
        </p:spPr>
      </p:pic>
      <p:sp>
        <p:nvSpPr>
          <p:cNvPr id="13" name="Text 8"/>
          <p:cNvSpPr txBox="1"/>
          <p:nvPr/>
        </p:nvSpPr>
        <p:spPr>
          <a:xfrm>
            <a:off x="1325880" y="5925312"/>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smoothapplication.github.io/smooth-application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2026-09-08T16:29:26Z</dcterms:created>
  <dcterms:modified xsi:type="dcterms:W3CDTF">2026-09-08T16:29:26Z</dcterms:modified>
</cp:coreProperties>
</file>