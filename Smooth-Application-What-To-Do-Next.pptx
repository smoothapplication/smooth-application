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49240"/>
            <a:ext cx="146304" cy="146304"/>
          </a:xfrm>
          <a:prstGeom prst="ellipse">
            <a:avLst/>
          </a:prstGeom>
          <a:solidFill>
            <a:srgbClr val="27404C"/>
          </a:solidFill>
          <a:ln/>
        </p:spPr>
      </p:sp>
      <p:sp>
        <p:nvSpPr>
          <p:cNvPr id="3" name="Shape 1"/>
          <p:cNvSpPr/>
          <p:nvPr/>
        </p:nvSpPr>
        <p:spPr>
          <a:xfrm>
            <a:off x="1389888" y="5349240"/>
            <a:ext cx="146304" cy="146304"/>
          </a:xfrm>
          <a:prstGeom prst="ellipse">
            <a:avLst/>
          </a:prstGeom>
          <a:solidFill>
            <a:srgbClr val="27404C"/>
          </a:solidFill>
          <a:ln/>
        </p:spPr>
      </p:sp>
      <p:sp>
        <p:nvSpPr>
          <p:cNvPr id="4" name="Shape 2"/>
          <p:cNvSpPr/>
          <p:nvPr/>
        </p:nvSpPr>
        <p:spPr>
          <a:xfrm>
            <a:off x="1956816" y="5349240"/>
            <a:ext cx="146304" cy="146304"/>
          </a:xfrm>
          <a:prstGeom prst="ellipse">
            <a:avLst/>
          </a:prstGeom>
          <a:solidFill>
            <a:srgbClr val="27404C"/>
          </a:solidFill>
          <a:ln/>
        </p:spPr>
      </p:sp>
      <p:sp>
        <p:nvSpPr>
          <p:cNvPr id="5" name="Shape 3"/>
          <p:cNvSpPr/>
          <p:nvPr/>
        </p:nvSpPr>
        <p:spPr>
          <a:xfrm>
            <a:off x="2523744" y="5349240"/>
            <a:ext cx="146304" cy="146304"/>
          </a:xfrm>
          <a:prstGeom prst="ellipse">
            <a:avLst/>
          </a:prstGeom>
          <a:solidFill>
            <a:srgbClr val="27404C"/>
          </a:solidFill>
          <a:ln/>
        </p:spPr>
      </p:sp>
      <p:sp>
        <p:nvSpPr>
          <p:cNvPr id="6" name="Shape 4"/>
          <p:cNvSpPr/>
          <p:nvPr/>
        </p:nvSpPr>
        <p:spPr>
          <a:xfrm>
            <a:off x="3090672" y="5349240"/>
            <a:ext cx="146304" cy="146304"/>
          </a:xfrm>
          <a:prstGeom prst="ellipse">
            <a:avLst/>
          </a:prstGeom>
          <a:solidFill>
            <a:srgbClr val="27404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5349240"/>
            <a:ext cx="146304" cy="146304"/>
          </a:xfrm>
          <a:prstGeom prst="ellipse">
            <a:avLst/>
          </a:prstGeom>
          <a:solidFill>
            <a:srgbClr val="27404C"/>
          </a:solidFill>
          <a:ln/>
        </p:spPr>
      </p:sp>
      <p:sp>
        <p:nvSpPr>
          <p:cNvPr id="8" name="Shape 6"/>
          <p:cNvSpPr/>
          <p:nvPr/>
        </p:nvSpPr>
        <p:spPr>
          <a:xfrm>
            <a:off x="4224528" y="5349240"/>
            <a:ext cx="146304" cy="146304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9" name="Shape 7"/>
          <p:cNvSpPr/>
          <p:nvPr/>
        </p:nvSpPr>
        <p:spPr>
          <a:xfrm>
            <a:off x="4791456" y="5349240"/>
            <a:ext cx="146304" cy="146304"/>
          </a:xfrm>
          <a:prstGeom prst="ellipse">
            <a:avLst/>
          </a:prstGeom>
          <a:solidFill>
            <a:srgbClr val="27404C"/>
          </a:solidFill>
          <a:ln/>
        </p:spPr>
      </p:sp>
      <p:sp>
        <p:nvSpPr>
          <p:cNvPr id="10" name="Shape 8"/>
          <p:cNvSpPr/>
          <p:nvPr/>
        </p:nvSpPr>
        <p:spPr>
          <a:xfrm>
            <a:off x="5358384" y="5349240"/>
            <a:ext cx="146304" cy="146304"/>
          </a:xfrm>
          <a:prstGeom prst="ellipse">
            <a:avLst/>
          </a:prstGeom>
          <a:solidFill>
            <a:srgbClr val="27404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APPLICATION — BUILD UPDATE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next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22960" y="30632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synthesized readiness report — and the one hard gate in an app built on free navigation.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→ 15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2960" y="4736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in the flow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03320" y="4160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703320" y="4736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synthesized: passport, travel, finance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83680" y="4160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583680" y="4736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 — every other pill stays free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Seyi Afeni ·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sits in the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right after the two finance sessions — before a single document category loads.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196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of 15: </a:t>
            </a:r>
            <a:pPr indent="0" marL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9244" y="2290572"/>
            <a:ext cx="118872" cy="118872"/>
          </a:xfrm>
          <a:prstGeom prst="ellipse">
            <a:avLst/>
          </a:prstGeom>
          <a:solidFill>
            <a:srgbClr val="12699A"/>
          </a:solidFill>
          <a:ln/>
        </p:spPr>
      </p:sp>
      <p:sp>
        <p:nvSpPr>
          <p:cNvPr id="7" name="Shape 5"/>
          <p:cNvSpPr/>
          <p:nvPr/>
        </p:nvSpPr>
        <p:spPr>
          <a:xfrm>
            <a:off x="1553827" y="2290572"/>
            <a:ext cx="118872" cy="118872"/>
          </a:xfrm>
          <a:prstGeom prst="ellipse">
            <a:avLst/>
          </a:prstGeom>
          <a:solidFill>
            <a:srgbClr val="C7D3D8"/>
          </a:solidFill>
          <a:ln/>
        </p:spPr>
      </p:sp>
      <p:sp>
        <p:nvSpPr>
          <p:cNvPr id="8" name="Shape 6"/>
          <p:cNvSpPr/>
          <p:nvPr/>
        </p:nvSpPr>
        <p:spPr>
          <a:xfrm>
            <a:off x="2298410" y="2290572"/>
            <a:ext cx="118872" cy="118872"/>
          </a:xfrm>
          <a:prstGeom prst="ellipse">
            <a:avLst/>
          </a:prstGeom>
          <a:solidFill>
            <a:srgbClr val="C7D3D8"/>
          </a:solidFill>
          <a:ln/>
        </p:spPr>
      </p:sp>
      <p:sp>
        <p:nvSpPr>
          <p:cNvPr id="9" name="Shape 7"/>
          <p:cNvSpPr/>
          <p:nvPr/>
        </p:nvSpPr>
        <p:spPr>
          <a:xfrm>
            <a:off x="3042993" y="2290572"/>
            <a:ext cx="118872" cy="118872"/>
          </a:xfrm>
          <a:prstGeom prst="ellipse">
            <a:avLst/>
          </a:prstGeom>
          <a:solidFill>
            <a:srgbClr val="C7D3D8"/>
          </a:solidFill>
          <a:ln/>
        </p:spPr>
      </p:sp>
      <p:sp>
        <p:nvSpPr>
          <p:cNvPr id="10" name="Shape 8"/>
          <p:cNvSpPr/>
          <p:nvPr/>
        </p:nvSpPr>
        <p:spPr>
          <a:xfrm>
            <a:off x="3787575" y="2290572"/>
            <a:ext cx="118872" cy="118872"/>
          </a:xfrm>
          <a:prstGeom prst="ellipse">
            <a:avLst/>
          </a:prstGeom>
          <a:solidFill>
            <a:srgbClr val="C7D3D8"/>
          </a:solidFill>
          <a:ln/>
        </p:spPr>
      </p:sp>
      <p:sp>
        <p:nvSpPr>
          <p:cNvPr id="11" name="Shape 9"/>
          <p:cNvSpPr/>
          <p:nvPr/>
        </p:nvSpPr>
        <p:spPr>
          <a:xfrm>
            <a:off x="4532158" y="2290572"/>
            <a:ext cx="118872" cy="118872"/>
          </a:xfrm>
          <a:prstGeom prst="ellipse">
            <a:avLst/>
          </a:prstGeom>
          <a:solidFill>
            <a:srgbClr val="C7D3D8"/>
          </a:solidFill>
          <a:ln/>
        </p:spPr>
      </p:sp>
      <p:sp>
        <p:nvSpPr>
          <p:cNvPr id="12" name="Shape 10"/>
          <p:cNvSpPr/>
          <p:nvPr/>
        </p:nvSpPr>
        <p:spPr>
          <a:xfrm>
            <a:off x="5276741" y="2290572"/>
            <a:ext cx="118872" cy="118872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21324" y="2290572"/>
            <a:ext cx="118872" cy="118872"/>
          </a:xfrm>
          <a:prstGeom prst="ellipse">
            <a:avLst/>
          </a:prstGeom>
          <a:solidFill>
            <a:srgbClr val="C7D3D8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5907" y="2290572"/>
            <a:ext cx="118872" cy="118872"/>
          </a:xfrm>
          <a:prstGeom prst="ellipse">
            <a:avLst/>
          </a:prstGeom>
          <a:solidFill>
            <a:srgbClr val="C7D3D8"/>
          </a:solidFill>
          <a:ln/>
        </p:spPr>
      </p:sp>
      <p:sp>
        <p:nvSpPr>
          <p:cNvPr id="15" name="Shape 13"/>
          <p:cNvSpPr/>
          <p:nvPr/>
        </p:nvSpPr>
        <p:spPr>
          <a:xfrm>
            <a:off x="7510490" y="2290572"/>
            <a:ext cx="118872" cy="118872"/>
          </a:xfrm>
          <a:prstGeom prst="ellipse">
            <a:avLst/>
          </a:prstGeom>
          <a:solidFill>
            <a:srgbClr val="C7D3D8"/>
          </a:solidFill>
          <a:ln/>
        </p:spPr>
      </p:sp>
      <p:sp>
        <p:nvSpPr>
          <p:cNvPr id="16" name="Shape 14"/>
          <p:cNvSpPr/>
          <p:nvPr/>
        </p:nvSpPr>
        <p:spPr>
          <a:xfrm>
            <a:off x="8255073" y="2290572"/>
            <a:ext cx="118872" cy="118872"/>
          </a:xfrm>
          <a:prstGeom prst="ellipse">
            <a:avLst/>
          </a:prstGeom>
          <a:solidFill>
            <a:srgbClr val="C7D3D8"/>
          </a:solidFill>
          <a:ln/>
        </p:spPr>
      </p:sp>
      <p:sp>
        <p:nvSpPr>
          <p:cNvPr id="17" name="Shape 15"/>
          <p:cNvSpPr/>
          <p:nvPr/>
        </p:nvSpPr>
        <p:spPr>
          <a:xfrm>
            <a:off x="8999655" y="2290572"/>
            <a:ext cx="118872" cy="118872"/>
          </a:xfrm>
          <a:prstGeom prst="ellipse">
            <a:avLst/>
          </a:prstGeom>
          <a:solidFill>
            <a:srgbClr val="C7D3D8"/>
          </a:solidFill>
          <a:ln/>
        </p:spPr>
      </p:sp>
      <p:sp>
        <p:nvSpPr>
          <p:cNvPr id="18" name="Shape 16"/>
          <p:cNvSpPr/>
          <p:nvPr/>
        </p:nvSpPr>
        <p:spPr>
          <a:xfrm>
            <a:off x="9744238" y="2290572"/>
            <a:ext cx="118872" cy="118872"/>
          </a:xfrm>
          <a:prstGeom prst="ellipse">
            <a:avLst/>
          </a:prstGeom>
          <a:solidFill>
            <a:srgbClr val="C7D3D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88821" y="2290572"/>
            <a:ext cx="118872" cy="118872"/>
          </a:xfrm>
          <a:prstGeom prst="ellipse">
            <a:avLst/>
          </a:prstGeom>
          <a:solidFill>
            <a:srgbClr val="C7D3D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233404" y="2290572"/>
            <a:ext cx="118872" cy="118872"/>
          </a:xfrm>
          <a:prstGeom prst="ellipse">
            <a:avLst/>
          </a:prstGeom>
          <a:solidFill>
            <a:srgbClr val="C7D3D8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4597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9811" y="24597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×2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78977" y="24597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835640" y="24597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320040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749040"/>
            <a:ext cx="4800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Validate your International Passport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Travel Experience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Your responsibilities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Your trip details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Income &amp; bank statement analysis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Financial readiness calculator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63640" y="320040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EFE7F7"/>
          </a:solidFill>
          <a:ln w="15875">
            <a:solidFill>
              <a:srgbClr val="6A3F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entry to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3749040"/>
            <a:ext cx="4800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document-checklist category
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(Identity &amp; application, Financial evidence, Ties to Nigeria, Accommodation, Travel details, Purpose-specific, Visa history…)
</a:t>
            </a:r>
            <a:pPr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past this session loads until the applicant ticks one box.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session · index.html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418320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Application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synthesized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Passport, travel history, and finance — pulled from what's already on file, with a plain verdict on each.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05200" cy="416052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09928"/>
            <a:ext cx="420624" cy="420624"/>
          </a:xfrm>
          <a:prstGeom prst="ellipse">
            <a:avLst/>
          </a:prstGeom>
          <a:solidFill>
            <a:srgbClr val="D8EAF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6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709928"/>
            <a:ext cx="2545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validity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3048000" cy="310896"/>
          </a:xfrm>
          <a:prstGeom prst="roundRect">
            <a:avLst>
              <a:gd name="adj" fmla="val 50000"/>
            </a:avLst>
          </a:prstGeom>
          <a:solidFill>
            <a:srgbClr val="DCF3E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0280"/>
            <a:ext cx="304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8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3048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passport clears the 6-months-beyond-travel-date rule most UK reviewers expect — no action needed here.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4754880"/>
            <a:ext cx="3048000" cy="0"/>
          </a:xfrm>
          <a:prstGeom prst="line">
            <a:avLst/>
          </a:prstGeom>
          <a:noFill/>
          <a:ln w="9525">
            <a:solidFill>
              <a:srgbClr val="D6E0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873752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against: passport expiry date × planned travel date + 6 months.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28160" y="1508760"/>
            <a:ext cx="3505200" cy="416052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6760" y="1709928"/>
            <a:ext cx="420624" cy="420624"/>
          </a:xfrm>
          <a:prstGeom prst="ellipse">
            <a:avLst/>
          </a:prstGeom>
          <a:solidFill>
            <a:srgbClr val="D8EAF3"/>
          </a:solidFill>
          <a:ln/>
        </p:spPr>
      </p:sp>
      <p:sp>
        <p:nvSpPr>
          <p:cNvPr id="15" name="Text 13"/>
          <p:cNvSpPr/>
          <p:nvPr/>
        </p:nvSpPr>
        <p:spPr>
          <a:xfrm>
            <a:off x="455676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6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05400" y="1709928"/>
            <a:ext cx="2545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history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56760" y="2240280"/>
            <a:ext cx="3048000" cy="310896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8" name="Text 16"/>
          <p:cNvSpPr/>
          <p:nvPr/>
        </p:nvSpPr>
        <p:spPr>
          <a:xfrm>
            <a:off x="4556760" y="2240280"/>
            <a:ext cx="304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9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6760" y="2743200"/>
            <a:ext cx="3048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travel history on file yet. Ghana, Kenya, Ethiopia, or Morocco are commonly used as a first destination to build history before applying somewhere more demanding.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56760" y="4754880"/>
            <a:ext cx="3048000" cy="0"/>
          </a:xfrm>
          <a:prstGeom prst="line">
            <a:avLst/>
          </a:prstGeom>
          <a:noFill/>
          <a:ln w="9525">
            <a:solidFill>
              <a:srgbClr val="D6E0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6760" y="4873752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 already strong? South Africa is suggested instead — a comparatively higher success rate.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07680" y="1508760"/>
            <a:ext cx="3505200" cy="416052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36280" y="1709928"/>
            <a:ext cx="420624" cy="420624"/>
          </a:xfrm>
          <a:prstGeom prst="ellipse">
            <a:avLst/>
          </a:prstGeom>
          <a:solidFill>
            <a:srgbClr val="D8EAF3"/>
          </a:solidFill>
          <a:ln/>
        </p:spPr>
      </p:sp>
      <p:sp>
        <p:nvSpPr>
          <p:cNvPr id="24" name="Text 22"/>
          <p:cNvSpPr/>
          <p:nvPr/>
        </p:nvSpPr>
        <p:spPr>
          <a:xfrm>
            <a:off x="83362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6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884920" y="1709928"/>
            <a:ext cx="2545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readiness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336280" y="2240280"/>
            <a:ext cx="3048000" cy="310896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27" name="Text 25"/>
          <p:cNvSpPr/>
          <p:nvPr/>
        </p:nvSpPr>
        <p:spPr>
          <a:xfrm>
            <a:off x="8336280" y="2240280"/>
            <a:ext cx="304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9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THERE YET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36280" y="2743200"/>
            <a:ext cx="3048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up your closing balance and make your income more consistent over the next 6 months of statements — before applying on a weak one.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36280" y="4754880"/>
            <a:ext cx="3048000" cy="0"/>
          </a:xfrm>
          <a:prstGeom prst="line">
            <a:avLst/>
          </a:prstGeom>
          <a:noFill/>
          <a:ln w="9525">
            <a:solidFill>
              <a:srgbClr val="D6E0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36280" y="4873752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same balancePill / incomePill signals as the readiness calculator above it.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58064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F0DC"/>
          </a:solidFill>
          <a:ln w="12700">
            <a:solidFill>
              <a:srgbClr val="D99A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8064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 ~45 days:  </a:t>
            </a:r>
            <a:pPr indent="0" marL="0">
              <a:buNone/>
            </a:pPr>
            <a:r>
              <a:rPr lang="en-US" sz="1150" dirty="0">
                <a:solidFill>
                  <a:srgbClr val="7A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 — 1) build travel history now if time allows   2) strengthen finances (passport already clears the rule, so it's not on this list).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renderNextStepsReport() · #nextStepsReportBox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418320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Application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hard gate in the app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session pill stays freely clickable, by explicit product decision. This is the deliberate exception.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875">
            <a:solidFill>
              <a:srgbClr val="B93D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8DED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UNACKNOWLEDGED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of 15: What to do next — 0% filled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4800600" cy="384048"/>
          </a:xfrm>
          <a:prstGeom prst="roundRect">
            <a:avLst/>
          </a:prstGeom>
          <a:solidFill>
            <a:srgbClr val="EAEAEA"/>
          </a:solidFill>
          <a:ln w="12700">
            <a:solidFill>
              <a:srgbClr val="B93D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  (blocked)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256032" cy="256032"/>
          </a:xfrm>
          <a:prstGeom prst="roundRect">
            <a:avLst/>
          </a:prstGeom>
          <a:solidFill>
            <a:srgbClr val="F8DEDC"/>
          </a:solidFill>
          <a:ln w="25400">
            <a:solidFill>
              <a:srgbClr val="B93D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246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3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reviewed my next steps above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pill click aimed past this session — or the Next button — redirects straight back here and highlights the box in red. No categories load.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875">
            <a:solidFill>
              <a:srgbClr val="0F82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8288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CF3EA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8288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8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37960" y="22860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of 15: What to do next — 100% filled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2651760"/>
            <a:ext cx="4800600" cy="384048"/>
          </a:xfrm>
          <a:prstGeom prst="roundRect">
            <a:avLst/>
          </a:prstGeom>
          <a:solidFill>
            <a:srgbClr val="12699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6517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3291840"/>
            <a:ext cx="256032" cy="256032"/>
          </a:xfrm>
          <a:prstGeom prst="roundRect">
            <a:avLst/>
          </a:prstGeom>
          <a:solidFill>
            <a:srgbClr val="0F826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24612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85432" y="3246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reviewed my next steps above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37960" y="3794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6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Identity &amp; application (Session 8)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42519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sessionProgress()/attemptAdvanceSession() machinery every other session's Next button already used — extended, not duplicated.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goToSession() gate check · attemptAdvanceSession()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418320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Application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spouse/sponsor decision moved here too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advice about who applies and who pays — not a document to collect — so it left “Your responsibilities” for this session.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questions, one recommendation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EEF3F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860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spouse willing to fund this trip?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EEF3F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063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spouse gainfully employed or running a business?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EEF3F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40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spouse currently hold a UK visa, or travelled here before?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DCF3EA"/>
          </a:solidFill>
          <a:ln w="15875">
            <a:solidFill>
              <a:srgbClr val="0F82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89280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8928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WILLING + EMPLOYED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23317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“Since your spouse is employed and willing, they can act as your financial sponsor instead of you self-funding. You’ll need their own bank statements for the last six months, plus a signed letter confirming they’re funding this trip.”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4023360"/>
            <a:ext cx="237744" cy="237744"/>
          </a:xfrm>
          <a:prstGeom prst="roundRect">
            <a:avLst/>
          </a:prstGeom>
          <a:solidFill>
            <a:srgbClr val="0F8266"/>
          </a:solidFill>
          <a:ln/>
        </p:spPr>
      </p:sp>
      <p:sp>
        <p:nvSpPr>
          <p:cNvPr id="17" name="Text 15"/>
          <p:cNvSpPr/>
          <p:nvPr/>
        </p:nvSpPr>
        <p:spPr>
          <a:xfrm>
            <a:off x="6729984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my spouse will sponsor this trip as my financial sponsor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0" y="4389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only — ticking this is what actually adds the sponsor's statements to the checklist.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D8EAF3"/>
          </a:solidFill>
          <a:ln w="12700">
            <a:solidFill>
              <a:srgbClr val="1269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074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26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fixed while it moved: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visa/host labels used to hardcode “UK” regardless of the destination selected. They now read from the current country — “a UK visa”, “a Canada visa”, “a Schengen visa”, or “a South Africa visa”, correctly.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renderSponsorRecommendation() · now country-aware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418320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Application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worth the one exception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46504"/>
            <a:ext cx="128016" cy="128016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618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Founder's own field reasoning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0" y="16002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9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who skip straight into document collection without this review end up filling in the wrong things, unprepared.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980944"/>
            <a:ext cx="128016" cy="128016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852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Reuses, doesn't duplicate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0" y="28346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9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sessionProgress() / attemptAdvanceSession() machinery every session's Next button already used — one new binary case, not new gate logic.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215384"/>
            <a:ext cx="128016" cy="128016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0873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right now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40690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9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syntax-checked, and covered by tests locally — not yet live. Ships on the next npm test → git push.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5715000"/>
            <a:ext cx="10424160" cy="0"/>
          </a:xfrm>
          <a:prstGeom prst="line">
            <a:avLst/>
          </a:prstGeom>
          <a:noFill/>
          <a:ln w="12700">
            <a:solidFill>
              <a:srgbClr val="2740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897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run npm test on the usual command sequence, then push — the live site will read “Session 7 of 15” once it's up.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2026-09-09T09:02:00Z</dcterms:created>
  <dcterms:modified xsi:type="dcterms:W3CDTF">2026-09-09T09:02:00Z</dcterms:modified>
</cp:coreProperties>
</file>